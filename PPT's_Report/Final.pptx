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9" r:id="rId3"/>
    <p:sldId id="260" r:id="rId4"/>
    <p:sldId id="262" r:id="rId5"/>
    <p:sldId id="258" r:id="rId6"/>
    <p:sldId id="269" r:id="rId7"/>
    <p:sldId id="270" r:id="rId8"/>
    <p:sldId id="271" r:id="rId9"/>
    <p:sldId id="265" r:id="rId10"/>
    <p:sldId id="264" r:id="rId11"/>
    <p:sldId id="274" r:id="rId12"/>
  </p:sldIdLst>
  <p:sldSz cx="18288000" cy="10287000"/>
  <p:notesSz cx="6858000" cy="9144000"/>
  <p:embeddedFontLst>
    <p:embeddedFont>
      <p:font typeface="Helios" panose="020B0604020202020204" charset="0"/>
      <p:regular r:id="rId13"/>
    </p:embeddedFont>
    <p:embeddedFont>
      <p:font typeface="Helios Bold" panose="020B0604020202020204" charset="0"/>
      <p:regular r:id="rId14"/>
    </p:embeddedFont>
    <p:embeddedFont>
      <p:font typeface="Klein Bold" panose="020B0604020202020204" charset="0"/>
      <p:regular r:id="rId15"/>
    </p:embeddedFont>
    <p:embeddedFont>
      <p:font typeface="Maiandra GD" panose="020E0502030308020204" pitchFamily="3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9" d="100"/>
          <a:sy n="59" d="100"/>
        </p:scale>
        <p:origin x="898"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06/19/26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06/19/26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06/19/26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06/19/26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06/19/26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06/19/26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06/19/26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06/19/26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06/19/26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06/19/26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06/19/26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06/19/26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machinelearningmastery.com/handwritten-digit-recognition-using-convolutional-neural-networks-python-keras/" TargetMode="External"/><Relationship Id="rId2" Type="http://schemas.openxmlformats.org/officeDocument/2006/relationships/hyperlink" Target="https://medium.com/analytics-vidhya/mnist-handwritten-digit-recognition-using-neural-network-2b729bacb0d5" TargetMode="External"/><Relationship Id="rId1" Type="http://schemas.openxmlformats.org/officeDocument/2006/relationships/slideLayout" Target="../slideLayouts/slideLayout7.xml"/><Relationship Id="rId4" Type="http://schemas.openxmlformats.org/officeDocument/2006/relationships/hyperlink" Target="https://www.geeksforgeeks.org/handwritten-digit-recognition-using-neural-network/?ref=lb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466927" y="-4193184"/>
            <a:ext cx="10812392" cy="10812392"/>
          </a:xfrm>
          <a:custGeom>
            <a:avLst/>
            <a:gdLst/>
            <a:ahLst/>
            <a:cxnLst/>
            <a:rect l="l" t="t" r="r" b="b"/>
            <a:pathLst>
              <a:path w="10812392" h="10812392">
                <a:moveTo>
                  <a:pt x="0" y="0"/>
                </a:moveTo>
                <a:lnTo>
                  <a:pt x="10812393" y="0"/>
                </a:lnTo>
                <a:lnTo>
                  <a:pt x="10812393" y="10812392"/>
                </a:lnTo>
                <a:lnTo>
                  <a:pt x="0" y="1081239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028700" y="1125837"/>
            <a:ext cx="4000500" cy="1731663"/>
          </a:xfrm>
          <a:custGeom>
            <a:avLst/>
            <a:gdLst/>
            <a:ahLst/>
            <a:cxnLst/>
            <a:rect l="l" t="t" r="r" b="b"/>
            <a:pathLst>
              <a:path w="785282" h="824246">
                <a:moveTo>
                  <a:pt x="0" y="0"/>
                </a:moveTo>
                <a:lnTo>
                  <a:pt x="785282" y="0"/>
                </a:lnTo>
                <a:lnTo>
                  <a:pt x="785282" y="824246"/>
                </a:lnTo>
                <a:lnTo>
                  <a:pt x="0" y="82424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3407200" y="4432068"/>
            <a:ext cx="5764383" cy="5764383"/>
          </a:xfrm>
          <a:custGeom>
            <a:avLst/>
            <a:gdLst/>
            <a:ahLst/>
            <a:cxnLst/>
            <a:rect l="l" t="t" r="r" b="b"/>
            <a:pathLst>
              <a:path w="5764383" h="5764383">
                <a:moveTo>
                  <a:pt x="0" y="0"/>
                </a:moveTo>
                <a:lnTo>
                  <a:pt x="5764383" y="0"/>
                </a:lnTo>
                <a:lnTo>
                  <a:pt x="5764383" y="5764383"/>
                </a:lnTo>
                <a:lnTo>
                  <a:pt x="0" y="5764383"/>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7" name="Freeform 7"/>
          <p:cNvSpPr/>
          <p:nvPr/>
        </p:nvSpPr>
        <p:spPr>
          <a:xfrm>
            <a:off x="57078" y="7902203"/>
            <a:ext cx="5764383" cy="5764383"/>
          </a:xfrm>
          <a:custGeom>
            <a:avLst/>
            <a:gdLst/>
            <a:ahLst/>
            <a:cxnLst/>
            <a:rect l="l" t="t" r="r" b="b"/>
            <a:pathLst>
              <a:path w="5764383" h="5764383">
                <a:moveTo>
                  <a:pt x="0" y="0"/>
                </a:moveTo>
                <a:lnTo>
                  <a:pt x="5764383" y="0"/>
                </a:lnTo>
                <a:lnTo>
                  <a:pt x="5764383" y="5764382"/>
                </a:lnTo>
                <a:lnTo>
                  <a:pt x="0" y="5764382"/>
                </a:lnTo>
                <a:lnTo>
                  <a:pt x="0" y="0"/>
                </a:lnTo>
                <a:close/>
              </a:path>
            </a:pathLst>
          </a:custGeom>
          <a:blipFill>
            <a:blip>
              <a:alphaModFix amt="80000"/>
              <a:extLst>
                <a:ext uri="{96DAC541-7B7A-43D3-8B79-37D633B846F1}">
                  <asvg:svgBlip xmlns:asvg="http://schemas.microsoft.com/office/drawing/2016/SVG/main" r:embed="rId2"/>
                </a:ext>
              </a:extLst>
            </a:blip>
            <a:stretch>
              <a:fillRect/>
            </a:stretch>
          </a:blipFill>
        </p:spPr>
      </p:sp>
      <p:sp>
        <p:nvSpPr>
          <p:cNvPr id="19" name="TextBox 18">
            <a:extLst>
              <a:ext uri="{FF2B5EF4-FFF2-40B4-BE49-F238E27FC236}">
                <a16:creationId xmlns:a16="http://schemas.microsoft.com/office/drawing/2014/main" id="{D8C73475-580D-A4B4-E5FD-6D533CB59B5A}"/>
              </a:ext>
            </a:extLst>
          </p:cNvPr>
          <p:cNvSpPr txBox="1"/>
          <p:nvPr/>
        </p:nvSpPr>
        <p:spPr>
          <a:xfrm>
            <a:off x="6858000" y="4076700"/>
            <a:ext cx="10134600" cy="2308324"/>
          </a:xfrm>
          <a:prstGeom prst="rect">
            <a:avLst/>
          </a:prstGeom>
          <a:noFill/>
        </p:spPr>
        <p:txBody>
          <a:bodyPr wrap="square" rtlCol="0">
            <a:spAutoFit/>
          </a:bodyPr>
          <a:lstStyle/>
          <a:p>
            <a:pPr algn="ctr"/>
            <a:r>
              <a:rPr lang="en-US" sz="4800" dirty="0">
                <a:solidFill>
                  <a:schemeClr val="accent1">
                    <a:lumMod val="60000"/>
                    <a:lumOff val="40000"/>
                  </a:schemeClr>
                </a:solidFill>
                <a:latin typeface="Klein Bold" panose="020B0604020202020204" charset="0"/>
              </a:rPr>
              <a:t>HAND WRITTEN DIGIT RECOGNITION USING NEURAL NETWORKS</a:t>
            </a:r>
            <a:endParaRPr lang="en-IN" sz="4800" dirty="0">
              <a:solidFill>
                <a:schemeClr val="accent1">
                  <a:lumMod val="60000"/>
                  <a:lumOff val="40000"/>
                </a:schemeClr>
              </a:solidFill>
              <a:latin typeface="Klein Bold" panose="020B06040202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1" name="Freeform 3">
            <a:extLst>
              <a:ext uri="{FF2B5EF4-FFF2-40B4-BE49-F238E27FC236}">
                <a16:creationId xmlns:a16="http://schemas.microsoft.com/office/drawing/2014/main" id="{C2279085-2562-6413-E33C-F82B5C4A95E3}"/>
              </a:ext>
            </a:extLst>
          </p:cNvPr>
          <p:cNvSpPr/>
          <p:nvPr/>
        </p:nvSpPr>
        <p:spPr>
          <a:xfrm>
            <a:off x="8610958" y="7296485"/>
            <a:ext cx="1621594" cy="1621594"/>
          </a:xfrm>
          <a:custGeom>
            <a:avLst/>
            <a:gdLst/>
            <a:ahLst/>
            <a:cxnLst/>
            <a:rect l="l" t="t" r="r" b="b"/>
            <a:pathLst>
              <a:path w="1621594" h="1621594">
                <a:moveTo>
                  <a:pt x="0" y="0"/>
                </a:moveTo>
                <a:lnTo>
                  <a:pt x="1621594" y="0"/>
                </a:lnTo>
                <a:lnTo>
                  <a:pt x="1621594" y="1621593"/>
                </a:lnTo>
                <a:lnTo>
                  <a:pt x="0" y="162159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 name="Freeform 2"/>
          <p:cNvSpPr/>
          <p:nvPr/>
        </p:nvSpPr>
        <p:spPr>
          <a:xfrm>
            <a:off x="8598258" y="1184790"/>
            <a:ext cx="1621594" cy="1621594"/>
          </a:xfrm>
          <a:custGeom>
            <a:avLst/>
            <a:gdLst/>
            <a:ahLst/>
            <a:cxnLst/>
            <a:rect l="l" t="t" r="r" b="b"/>
            <a:pathLst>
              <a:path w="1621594" h="1621594">
                <a:moveTo>
                  <a:pt x="0" y="0"/>
                </a:moveTo>
                <a:lnTo>
                  <a:pt x="1621594" y="0"/>
                </a:lnTo>
                <a:lnTo>
                  <a:pt x="1621594" y="1621594"/>
                </a:lnTo>
                <a:lnTo>
                  <a:pt x="0" y="162159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8598258" y="4260372"/>
            <a:ext cx="1621594" cy="1621594"/>
          </a:xfrm>
          <a:custGeom>
            <a:avLst/>
            <a:gdLst/>
            <a:ahLst/>
            <a:cxnLst/>
            <a:rect l="l" t="t" r="r" b="b"/>
            <a:pathLst>
              <a:path w="1621594" h="1621594">
                <a:moveTo>
                  <a:pt x="0" y="0"/>
                </a:moveTo>
                <a:lnTo>
                  <a:pt x="1621594" y="0"/>
                </a:lnTo>
                <a:lnTo>
                  <a:pt x="1621594" y="1621593"/>
                </a:lnTo>
                <a:lnTo>
                  <a:pt x="0" y="162159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7" name="Group 7"/>
          <p:cNvGrpSpPr/>
          <p:nvPr/>
        </p:nvGrpSpPr>
        <p:grpSpPr>
          <a:xfrm>
            <a:off x="112656" y="0"/>
            <a:ext cx="9296399" cy="10287000"/>
            <a:chOff x="0" y="0"/>
            <a:chExt cx="2478633" cy="2709333"/>
          </a:xfrm>
        </p:grpSpPr>
        <p:sp>
          <p:nvSpPr>
            <p:cNvPr id="8" name="Freeform 8"/>
            <p:cNvSpPr/>
            <p:nvPr/>
          </p:nvSpPr>
          <p:spPr>
            <a:xfrm>
              <a:off x="0" y="0"/>
              <a:ext cx="2478633" cy="2709333"/>
            </a:xfrm>
            <a:custGeom>
              <a:avLst/>
              <a:gdLst/>
              <a:ahLst/>
              <a:cxnLst/>
              <a:rect l="l" t="t" r="r" b="b"/>
              <a:pathLst>
                <a:path w="2478633" h="2709333">
                  <a:moveTo>
                    <a:pt x="0" y="0"/>
                  </a:moveTo>
                  <a:lnTo>
                    <a:pt x="2478633" y="0"/>
                  </a:lnTo>
                  <a:lnTo>
                    <a:pt x="2478633" y="2709333"/>
                  </a:lnTo>
                  <a:lnTo>
                    <a:pt x="0" y="2709333"/>
                  </a:lnTo>
                  <a:close/>
                </a:path>
              </a:pathLst>
            </a:custGeom>
            <a:solidFill>
              <a:srgbClr val="FFFFFF"/>
            </a:solidFill>
          </p:spPr>
        </p:sp>
        <p:sp>
          <p:nvSpPr>
            <p:cNvPr id="9" name="TextBox 9"/>
            <p:cNvSpPr txBox="1"/>
            <p:nvPr/>
          </p:nvSpPr>
          <p:spPr>
            <a:xfrm>
              <a:off x="0" y="-38100"/>
              <a:ext cx="2478633" cy="2747433"/>
            </a:xfrm>
            <a:prstGeom prst="rect">
              <a:avLst/>
            </a:prstGeom>
          </p:spPr>
          <p:txBody>
            <a:bodyPr lIns="50800" tIns="50800" rIns="50800" bIns="50800" rtlCol="0" anchor="ctr"/>
            <a:lstStyle/>
            <a:p>
              <a:pPr algn="ctr">
                <a:lnSpc>
                  <a:spcPts val="2100"/>
                </a:lnSpc>
              </a:pPr>
              <a:endParaRPr/>
            </a:p>
          </p:txBody>
        </p:sp>
      </p:grpSp>
      <p:sp>
        <p:nvSpPr>
          <p:cNvPr id="11" name="TextBox 11"/>
          <p:cNvSpPr txBox="1"/>
          <p:nvPr/>
        </p:nvSpPr>
        <p:spPr>
          <a:xfrm>
            <a:off x="1143000" y="612550"/>
            <a:ext cx="6746873" cy="1144480"/>
          </a:xfrm>
          <a:prstGeom prst="rect">
            <a:avLst/>
          </a:prstGeom>
        </p:spPr>
        <p:txBody>
          <a:bodyPr lIns="0" tIns="0" rIns="0" bIns="0" rtlCol="0" anchor="t">
            <a:spAutoFit/>
          </a:bodyPr>
          <a:lstStyle/>
          <a:p>
            <a:pPr algn="l">
              <a:lnSpc>
                <a:spcPts val="9099"/>
              </a:lnSpc>
            </a:pPr>
            <a:r>
              <a:rPr lang="en-US" sz="6999" b="1" dirty="0">
                <a:solidFill>
                  <a:srgbClr val="2A2E3A"/>
                </a:solidFill>
                <a:latin typeface="Klein Bold"/>
                <a:ea typeface="Klein Bold"/>
                <a:cs typeface="Klein Bold"/>
                <a:sym typeface="Klein Bold"/>
              </a:rPr>
              <a:t>Introduction:</a:t>
            </a:r>
            <a:endParaRPr lang="en-US" sz="6999" b="1" dirty="0">
              <a:solidFill>
                <a:srgbClr val="718BAB"/>
              </a:solidFill>
              <a:latin typeface="Klein Bold"/>
              <a:ea typeface="Klein Bold"/>
              <a:cs typeface="Klein Bold"/>
              <a:sym typeface="Klein Bold"/>
            </a:endParaRPr>
          </a:p>
        </p:txBody>
      </p:sp>
      <p:sp>
        <p:nvSpPr>
          <p:cNvPr id="17" name="TextBox 16">
            <a:extLst>
              <a:ext uri="{FF2B5EF4-FFF2-40B4-BE49-F238E27FC236}">
                <a16:creationId xmlns:a16="http://schemas.microsoft.com/office/drawing/2014/main" id="{D45793F4-B791-C9E7-1754-75A668BD3CCB}"/>
              </a:ext>
            </a:extLst>
          </p:cNvPr>
          <p:cNvSpPr txBox="1"/>
          <p:nvPr/>
        </p:nvSpPr>
        <p:spPr>
          <a:xfrm>
            <a:off x="10452100" y="656759"/>
            <a:ext cx="7533461" cy="2677656"/>
          </a:xfrm>
          <a:prstGeom prst="rect">
            <a:avLst/>
          </a:prstGeom>
          <a:noFill/>
        </p:spPr>
        <p:txBody>
          <a:bodyPr wrap="square" rtlCol="0">
            <a:spAutoFit/>
          </a:bodyPr>
          <a:lstStyle/>
          <a:p>
            <a:r>
              <a:rPr lang="en-US" sz="2800" dirty="0">
                <a:latin typeface="Maiandra GD" panose="020E0502030308020204" pitchFamily="34" charset="0"/>
              </a:rPr>
              <a:t>Handwritten digit recognition is a crucial application of image processing and machine learning that has seen widespread use in various fields, such as postal automation, bank check processing, and digitization of handwritten forms.</a:t>
            </a:r>
          </a:p>
        </p:txBody>
      </p:sp>
      <p:sp>
        <p:nvSpPr>
          <p:cNvPr id="18" name="TextBox 17">
            <a:extLst>
              <a:ext uri="{FF2B5EF4-FFF2-40B4-BE49-F238E27FC236}">
                <a16:creationId xmlns:a16="http://schemas.microsoft.com/office/drawing/2014/main" id="{E9145C6C-D89A-8A88-F2A7-9E7015811D50}"/>
              </a:ext>
            </a:extLst>
          </p:cNvPr>
          <p:cNvSpPr txBox="1"/>
          <p:nvPr/>
        </p:nvSpPr>
        <p:spPr>
          <a:xfrm>
            <a:off x="10429061" y="4378671"/>
            <a:ext cx="7543800" cy="1384995"/>
          </a:xfrm>
          <a:prstGeom prst="rect">
            <a:avLst/>
          </a:prstGeom>
          <a:noFill/>
        </p:spPr>
        <p:txBody>
          <a:bodyPr wrap="square" rtlCol="0">
            <a:spAutoFit/>
          </a:bodyPr>
          <a:lstStyle/>
          <a:p>
            <a:r>
              <a:rPr lang="en-US" sz="2800" dirty="0">
                <a:latin typeface="Maiandra GD" panose="020E0502030308020204" pitchFamily="34" charset="0"/>
              </a:rPr>
              <a:t>This project uses a neural network to recognize and classify handwritten digits based on the popular MNIST dataset.</a:t>
            </a:r>
            <a:endParaRPr lang="en-IN" dirty="0"/>
          </a:p>
        </p:txBody>
      </p:sp>
      <p:sp>
        <p:nvSpPr>
          <p:cNvPr id="22" name="TextBox 21">
            <a:extLst>
              <a:ext uri="{FF2B5EF4-FFF2-40B4-BE49-F238E27FC236}">
                <a16:creationId xmlns:a16="http://schemas.microsoft.com/office/drawing/2014/main" id="{8E7E4638-4610-8780-030E-8DA1388031FA}"/>
              </a:ext>
            </a:extLst>
          </p:cNvPr>
          <p:cNvSpPr txBox="1"/>
          <p:nvPr/>
        </p:nvSpPr>
        <p:spPr>
          <a:xfrm>
            <a:off x="10452100" y="7199341"/>
            <a:ext cx="7622361" cy="1815882"/>
          </a:xfrm>
          <a:prstGeom prst="rect">
            <a:avLst/>
          </a:prstGeom>
          <a:noFill/>
        </p:spPr>
        <p:txBody>
          <a:bodyPr wrap="square" rtlCol="0">
            <a:spAutoFit/>
          </a:bodyPr>
          <a:lstStyle/>
          <a:p>
            <a:r>
              <a:rPr lang="en-US" sz="2800" dirty="0">
                <a:latin typeface="Maiandra GD" panose="020E0502030308020204" pitchFamily="34" charset="0"/>
              </a:rPr>
              <a:t>In this project, we have enhanced the traditional approach to handwritten digit recognition by developing a user-friendly graphical user interface (GUI).</a:t>
            </a:r>
            <a:endParaRPr lang="en-IN" sz="2800" dirty="0">
              <a:latin typeface="Maiandra GD" panose="020E0502030308020204" pitchFamily="34" charset="0"/>
            </a:endParaRPr>
          </a:p>
        </p:txBody>
      </p:sp>
      <p:pic>
        <p:nvPicPr>
          <p:cNvPr id="5" name="Picture 4">
            <a:extLst>
              <a:ext uri="{FF2B5EF4-FFF2-40B4-BE49-F238E27FC236}">
                <a16:creationId xmlns:a16="http://schemas.microsoft.com/office/drawing/2014/main" id="{176BCF53-7FFF-4B07-CC54-625FC16B1B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5558" y="2369580"/>
            <a:ext cx="5888998" cy="588899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893829" y="-2055280"/>
            <a:ext cx="13960430" cy="13960430"/>
          </a:xfrm>
          <a:custGeom>
            <a:avLst/>
            <a:gdLst/>
            <a:ahLst/>
            <a:cxnLst/>
            <a:rect l="l" t="t" r="r" b="b"/>
            <a:pathLst>
              <a:path w="13960430" h="13960430">
                <a:moveTo>
                  <a:pt x="0" y="0"/>
                </a:moveTo>
                <a:lnTo>
                  <a:pt x="13960431" y="0"/>
                </a:lnTo>
                <a:lnTo>
                  <a:pt x="13960431" y="13960430"/>
                </a:lnTo>
                <a:lnTo>
                  <a:pt x="0" y="1396043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853103" y="1411539"/>
            <a:ext cx="5834916" cy="1183016"/>
          </a:xfrm>
          <a:prstGeom prst="rect">
            <a:avLst/>
          </a:prstGeom>
        </p:spPr>
        <p:txBody>
          <a:bodyPr wrap="square" lIns="0" tIns="0" rIns="0" bIns="0" rtlCol="0" anchor="t">
            <a:spAutoFit/>
          </a:bodyPr>
          <a:lstStyle/>
          <a:p>
            <a:pPr algn="l">
              <a:lnSpc>
                <a:spcPts val="9099"/>
              </a:lnSpc>
            </a:pPr>
            <a:r>
              <a:rPr lang="en-US" sz="8000" b="1" dirty="0">
                <a:solidFill>
                  <a:srgbClr val="2A2E3A"/>
                </a:solidFill>
                <a:latin typeface="Klein Bold"/>
                <a:ea typeface="Klein Bold"/>
                <a:cs typeface="Klein Bold"/>
                <a:sym typeface="Klein Bold"/>
              </a:rPr>
              <a:t>Objectives</a:t>
            </a:r>
            <a:r>
              <a:rPr lang="en-US" sz="6999" b="1" dirty="0">
                <a:solidFill>
                  <a:srgbClr val="2A2E3A"/>
                </a:solidFill>
                <a:latin typeface="Klein Bold"/>
                <a:ea typeface="Klein Bold"/>
                <a:cs typeface="Klein Bold"/>
                <a:sym typeface="Klein Bold"/>
              </a:rPr>
              <a:t>:</a:t>
            </a:r>
            <a:endParaRPr lang="en-US" sz="6999" b="1" dirty="0">
              <a:solidFill>
                <a:srgbClr val="718BAB"/>
              </a:solidFill>
              <a:latin typeface="Klein Bold"/>
              <a:ea typeface="Klein Bold"/>
              <a:cs typeface="Klein Bold"/>
              <a:sym typeface="Klein Bold"/>
            </a:endParaRPr>
          </a:p>
        </p:txBody>
      </p:sp>
      <p:sp>
        <p:nvSpPr>
          <p:cNvPr id="6" name="Freeform 6"/>
          <p:cNvSpPr/>
          <p:nvPr/>
        </p:nvSpPr>
        <p:spPr>
          <a:xfrm>
            <a:off x="8174814" y="1411539"/>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a:alphaModFix amt="44999"/>
              <a:extLst>
                <a:ext uri="{96DAC541-7B7A-43D3-8B79-37D633B846F1}">
                  <asvg:svgBlip xmlns:asvg="http://schemas.microsoft.com/office/drawing/2016/SVG/main" r:embed="rId3"/>
                </a:ext>
              </a:extLst>
            </a:blip>
            <a:stretch>
              <a:fillRect/>
            </a:stretch>
          </a:blipFill>
        </p:spPr>
      </p:sp>
      <p:sp>
        <p:nvSpPr>
          <p:cNvPr id="7" name="Freeform 7"/>
          <p:cNvSpPr/>
          <p:nvPr/>
        </p:nvSpPr>
        <p:spPr>
          <a:xfrm>
            <a:off x="8367209" y="1600710"/>
            <a:ext cx="1443365" cy="1443365"/>
          </a:xfrm>
          <a:custGeom>
            <a:avLst/>
            <a:gdLst/>
            <a:ahLst/>
            <a:cxnLst/>
            <a:rect l="l" t="t" r="r" b="b"/>
            <a:pathLst>
              <a:path w="1443365" h="1443365">
                <a:moveTo>
                  <a:pt x="0" y="0"/>
                </a:moveTo>
                <a:lnTo>
                  <a:pt x="1443365" y="0"/>
                </a:lnTo>
                <a:lnTo>
                  <a:pt x="1443365" y="1443365"/>
                </a:lnTo>
                <a:lnTo>
                  <a:pt x="0" y="144336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Freeform 12"/>
          <p:cNvSpPr/>
          <p:nvPr/>
        </p:nvSpPr>
        <p:spPr>
          <a:xfrm>
            <a:off x="8162798" y="4372504"/>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a:alphaModFix amt="44999"/>
              <a:extLst>
                <a:ext uri="{96DAC541-7B7A-43D3-8B79-37D633B846F1}">
                  <asvg:svgBlip xmlns:asvg="http://schemas.microsoft.com/office/drawing/2016/SVG/main" r:embed="rId5"/>
                </a:ext>
              </a:extLst>
            </a:blip>
            <a:stretch>
              <a:fillRect/>
            </a:stretch>
          </a:blipFill>
        </p:spPr>
      </p:sp>
      <p:sp>
        <p:nvSpPr>
          <p:cNvPr id="13" name="Freeform 13"/>
          <p:cNvSpPr/>
          <p:nvPr/>
        </p:nvSpPr>
        <p:spPr>
          <a:xfrm>
            <a:off x="8351969" y="4561675"/>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7" name="Freeform 17"/>
          <p:cNvSpPr/>
          <p:nvPr/>
        </p:nvSpPr>
        <p:spPr>
          <a:xfrm>
            <a:off x="8174814" y="7364971"/>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a:alphaModFix amt="44999"/>
              <a:extLst>
                <a:ext uri="{96DAC541-7B7A-43D3-8B79-37D633B846F1}">
                  <asvg:svgBlip xmlns:asvg="http://schemas.microsoft.com/office/drawing/2016/SVG/main" r:embed="rId5"/>
                </a:ext>
              </a:extLst>
            </a:blip>
            <a:stretch>
              <a:fillRect/>
            </a:stretch>
          </a:blipFill>
        </p:spPr>
      </p:sp>
      <p:sp>
        <p:nvSpPr>
          <p:cNvPr id="18" name="Freeform 18"/>
          <p:cNvSpPr/>
          <p:nvPr/>
        </p:nvSpPr>
        <p:spPr>
          <a:xfrm>
            <a:off x="8367209" y="7554142"/>
            <a:ext cx="1443365" cy="1443365"/>
          </a:xfrm>
          <a:custGeom>
            <a:avLst/>
            <a:gdLst/>
            <a:ahLst/>
            <a:cxnLst/>
            <a:rect l="l" t="t" r="r" b="b"/>
            <a:pathLst>
              <a:path w="1443365" h="1443365">
                <a:moveTo>
                  <a:pt x="0" y="0"/>
                </a:moveTo>
                <a:lnTo>
                  <a:pt x="1443365" y="0"/>
                </a:lnTo>
                <a:lnTo>
                  <a:pt x="1443365" y="1443365"/>
                </a:lnTo>
                <a:lnTo>
                  <a:pt x="0" y="144336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3" name="Freeform 23"/>
          <p:cNvSpPr/>
          <p:nvPr/>
        </p:nvSpPr>
        <p:spPr>
          <a:xfrm>
            <a:off x="8864396" y="4924935"/>
            <a:ext cx="442544" cy="627318"/>
          </a:xfrm>
          <a:custGeom>
            <a:avLst/>
            <a:gdLst/>
            <a:ahLst/>
            <a:cxnLst/>
            <a:rect l="l" t="t" r="r" b="b"/>
            <a:pathLst>
              <a:path w="442544" h="627318">
                <a:moveTo>
                  <a:pt x="0" y="0"/>
                </a:moveTo>
                <a:lnTo>
                  <a:pt x="442544" y="0"/>
                </a:lnTo>
                <a:lnTo>
                  <a:pt x="442544" y="627318"/>
                </a:lnTo>
                <a:lnTo>
                  <a:pt x="0" y="627318"/>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Freeform 8"/>
          <p:cNvSpPr/>
          <p:nvPr/>
        </p:nvSpPr>
        <p:spPr>
          <a:xfrm>
            <a:off x="8881366" y="2023270"/>
            <a:ext cx="425574" cy="566744"/>
          </a:xfrm>
          <a:custGeom>
            <a:avLst/>
            <a:gdLst/>
            <a:ahLst/>
            <a:cxnLst/>
            <a:rect l="l" t="t" r="r" b="b"/>
            <a:pathLst>
              <a:path w="425574" h="566744">
                <a:moveTo>
                  <a:pt x="0" y="0"/>
                </a:moveTo>
                <a:lnTo>
                  <a:pt x="425574" y="0"/>
                </a:lnTo>
                <a:lnTo>
                  <a:pt x="425574" y="566745"/>
                </a:lnTo>
                <a:lnTo>
                  <a:pt x="0" y="566745"/>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22" name="Freeform 22"/>
          <p:cNvSpPr/>
          <p:nvPr/>
        </p:nvSpPr>
        <p:spPr>
          <a:xfrm>
            <a:off x="8738422" y="7873269"/>
            <a:ext cx="670457" cy="676608"/>
          </a:xfrm>
          <a:custGeom>
            <a:avLst/>
            <a:gdLst/>
            <a:ahLst/>
            <a:cxnLst/>
            <a:rect l="l" t="t" r="r" b="b"/>
            <a:pathLst>
              <a:path w="670457" h="676608">
                <a:moveTo>
                  <a:pt x="0" y="0"/>
                </a:moveTo>
                <a:lnTo>
                  <a:pt x="670458" y="0"/>
                </a:lnTo>
                <a:lnTo>
                  <a:pt x="670458" y="676608"/>
                </a:lnTo>
                <a:lnTo>
                  <a:pt x="0" y="676608"/>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6" name="TextBox 25">
            <a:extLst>
              <a:ext uri="{FF2B5EF4-FFF2-40B4-BE49-F238E27FC236}">
                <a16:creationId xmlns:a16="http://schemas.microsoft.com/office/drawing/2014/main" id="{1008C48F-42E6-46EA-8542-F3F7373C69D2}"/>
              </a:ext>
            </a:extLst>
          </p:cNvPr>
          <p:cNvSpPr txBox="1"/>
          <p:nvPr/>
        </p:nvSpPr>
        <p:spPr>
          <a:xfrm>
            <a:off x="4419600" y="219565"/>
            <a:ext cx="14097000" cy="584775"/>
          </a:xfrm>
          <a:prstGeom prst="rect">
            <a:avLst/>
          </a:prstGeom>
          <a:noFill/>
        </p:spPr>
        <p:txBody>
          <a:bodyPr wrap="square">
            <a:spAutoFit/>
          </a:bodyPr>
          <a:lstStyle/>
          <a:p>
            <a:r>
              <a:rPr lang="en-US" sz="3200" dirty="0">
                <a:latin typeface="Maiandra GD" panose="020E0502030308020204" pitchFamily="34" charset="0"/>
              </a:rPr>
              <a:t>Here are six main objectives for our Handwritten Digit Recognition project:</a:t>
            </a:r>
          </a:p>
        </p:txBody>
      </p:sp>
      <p:sp>
        <p:nvSpPr>
          <p:cNvPr id="31" name="Rectangle 4">
            <a:extLst>
              <a:ext uri="{FF2B5EF4-FFF2-40B4-BE49-F238E27FC236}">
                <a16:creationId xmlns:a16="http://schemas.microsoft.com/office/drawing/2014/main" id="{709C2FBB-83B0-4EBD-ACD8-7FE10C5EB03D}"/>
              </a:ext>
            </a:extLst>
          </p:cNvPr>
          <p:cNvSpPr>
            <a:spLocks noChangeArrowheads="1"/>
          </p:cNvSpPr>
          <p:nvPr/>
        </p:nvSpPr>
        <p:spPr bwMode="auto">
          <a:xfrm>
            <a:off x="10234464" y="1571254"/>
            <a:ext cx="7391400"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600" b="1" i="0" u="none" strike="noStrike" cap="none" normalizeH="0" baseline="0" dirty="0">
                <a:ln>
                  <a:noFill/>
                </a:ln>
                <a:solidFill>
                  <a:schemeClr val="tx1"/>
                </a:solidFill>
                <a:effectLst/>
                <a:latin typeface="Maiandra GD" panose="020E0502030308020204" pitchFamily="34" charset="0"/>
              </a:rPr>
              <a:t>Build a three-layer neural network</a:t>
            </a:r>
            <a:r>
              <a:rPr kumimoji="0" lang="en-US" altLang="en-US" sz="2600" b="0" i="0" u="none" strike="noStrike" cap="none" normalizeH="0" baseline="0" dirty="0">
                <a:ln>
                  <a:noFill/>
                </a:ln>
                <a:solidFill>
                  <a:schemeClr val="tx1"/>
                </a:solidFill>
                <a:effectLst/>
                <a:latin typeface="Maiandra GD" panose="020E0502030308020204" pitchFamily="34" charset="0"/>
              </a:rPr>
              <a:t> for accurate handwritten digit recognition.</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600" b="1" i="0" u="none" strike="noStrike" cap="none" normalizeH="0" baseline="0" dirty="0">
                <a:ln>
                  <a:noFill/>
                </a:ln>
                <a:solidFill>
                  <a:schemeClr val="tx1"/>
                </a:solidFill>
                <a:effectLst/>
                <a:latin typeface="Maiandra GD" panose="020E0502030308020204" pitchFamily="34" charset="0"/>
              </a:rPr>
              <a:t>Preprocess data</a:t>
            </a:r>
            <a:r>
              <a:rPr kumimoji="0" lang="en-US" altLang="en-US" sz="2600" b="0" i="0" u="none" strike="noStrike" cap="none" normalizeH="0" baseline="0" dirty="0">
                <a:ln>
                  <a:noFill/>
                </a:ln>
                <a:solidFill>
                  <a:schemeClr val="tx1"/>
                </a:solidFill>
                <a:effectLst/>
                <a:latin typeface="Maiandra GD" panose="020E0502030308020204" pitchFamily="34" charset="0"/>
              </a:rPr>
              <a:t> by normalizing and scaling input features to improve model training. </a:t>
            </a:r>
          </a:p>
        </p:txBody>
      </p:sp>
      <p:sp>
        <p:nvSpPr>
          <p:cNvPr id="32" name="Rectangle 5">
            <a:extLst>
              <a:ext uri="{FF2B5EF4-FFF2-40B4-BE49-F238E27FC236}">
                <a16:creationId xmlns:a16="http://schemas.microsoft.com/office/drawing/2014/main" id="{FF08C425-9FA3-E1A0-9249-DAB0C9381FE8}"/>
              </a:ext>
            </a:extLst>
          </p:cNvPr>
          <p:cNvSpPr>
            <a:spLocks noChangeArrowheads="1"/>
          </p:cNvSpPr>
          <p:nvPr/>
        </p:nvSpPr>
        <p:spPr bwMode="auto">
          <a:xfrm rot="10800000" flipV="1">
            <a:off x="10206161" y="4372504"/>
            <a:ext cx="8114931"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600" b="1" i="0" u="none" strike="noStrike" cap="none" normalizeH="0" baseline="0" dirty="0">
                <a:ln>
                  <a:noFill/>
                </a:ln>
                <a:solidFill>
                  <a:schemeClr val="tx1"/>
                </a:solidFill>
                <a:effectLst/>
                <a:latin typeface="Maiandra GD" panose="020E0502030308020204" pitchFamily="34" charset="0"/>
              </a:rPr>
              <a:t>Train and optimize the network</a:t>
            </a:r>
            <a:r>
              <a:rPr kumimoji="0" lang="en-US" altLang="en-US" sz="2600" b="0" i="0" u="none" strike="noStrike" cap="none" normalizeH="0" baseline="0" dirty="0">
                <a:ln>
                  <a:noFill/>
                </a:ln>
                <a:solidFill>
                  <a:schemeClr val="tx1"/>
                </a:solidFill>
                <a:effectLst/>
                <a:latin typeface="Maiandra GD" panose="020E0502030308020204" pitchFamily="34" charset="0"/>
              </a:rPr>
              <a:t> using feedforward and backpropagation with regularization to reduce overfitting.</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600" b="1" i="0" u="none" strike="noStrike" cap="none" normalizeH="0" baseline="0" dirty="0">
                <a:ln>
                  <a:noFill/>
                </a:ln>
                <a:solidFill>
                  <a:schemeClr val="tx1"/>
                </a:solidFill>
                <a:effectLst/>
                <a:latin typeface="Maiandra GD" panose="020E0502030308020204" pitchFamily="34" charset="0"/>
              </a:rPr>
              <a:t>Evaluate model accuracy</a:t>
            </a:r>
            <a:r>
              <a:rPr kumimoji="0" lang="en-US" altLang="en-US" sz="2600" b="0" i="0" u="none" strike="noStrike" cap="none" normalizeH="0" baseline="0" dirty="0">
                <a:ln>
                  <a:noFill/>
                </a:ln>
                <a:solidFill>
                  <a:schemeClr val="tx1"/>
                </a:solidFill>
                <a:effectLst/>
                <a:latin typeface="Maiandra GD" panose="020E0502030308020204" pitchFamily="34" charset="0"/>
              </a:rPr>
              <a:t> on a testing set to ensure high recognition performance. </a:t>
            </a:r>
          </a:p>
        </p:txBody>
      </p:sp>
      <p:sp>
        <p:nvSpPr>
          <p:cNvPr id="33" name="Rectangle 6">
            <a:extLst>
              <a:ext uri="{FF2B5EF4-FFF2-40B4-BE49-F238E27FC236}">
                <a16:creationId xmlns:a16="http://schemas.microsoft.com/office/drawing/2014/main" id="{CBD1E4A6-5D80-88A6-C018-7F2D02624824}"/>
              </a:ext>
            </a:extLst>
          </p:cNvPr>
          <p:cNvSpPr>
            <a:spLocks noChangeArrowheads="1"/>
          </p:cNvSpPr>
          <p:nvPr/>
        </p:nvSpPr>
        <p:spPr bwMode="auto">
          <a:xfrm rot="10800000" flipV="1">
            <a:off x="10234464" y="7364971"/>
            <a:ext cx="7034064"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600" b="1" i="0" u="none" strike="noStrike" cap="none" normalizeH="0" baseline="0" dirty="0">
                <a:ln>
                  <a:noFill/>
                </a:ln>
                <a:solidFill>
                  <a:schemeClr val="tx1"/>
                </a:solidFill>
                <a:effectLst/>
                <a:latin typeface="Maiandra GD" panose="020E0502030308020204" pitchFamily="34" charset="0"/>
              </a:rPr>
              <a:t>Develop an interactive GUI</a:t>
            </a:r>
            <a:r>
              <a:rPr kumimoji="0" lang="en-US" altLang="en-US" sz="2600" b="0" i="0" u="none" strike="noStrike" cap="none" normalizeH="0" baseline="0" dirty="0">
                <a:ln>
                  <a:noFill/>
                </a:ln>
                <a:solidFill>
                  <a:schemeClr val="tx1"/>
                </a:solidFill>
                <a:effectLst/>
                <a:latin typeface="Maiandra GD" panose="020E0502030308020204" pitchFamily="34" charset="0"/>
              </a:rPr>
              <a:t> for real-time digit recognition by user input.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600" b="1" i="0" u="none" strike="noStrike" cap="none" normalizeH="0" baseline="0" dirty="0">
                <a:ln>
                  <a:noFill/>
                </a:ln>
                <a:solidFill>
                  <a:schemeClr val="tx1"/>
                </a:solidFill>
                <a:effectLst/>
                <a:latin typeface="Maiandra GD" panose="020E0502030308020204" pitchFamily="34" charset="0"/>
              </a:rPr>
              <a:t>Create an educational tool</a:t>
            </a:r>
            <a:r>
              <a:rPr kumimoji="0" lang="en-US" altLang="en-US" sz="2600" b="0" i="0" u="none" strike="noStrike" cap="none" normalizeH="0" baseline="0" dirty="0">
                <a:ln>
                  <a:noFill/>
                </a:ln>
                <a:solidFill>
                  <a:schemeClr val="tx1"/>
                </a:solidFill>
                <a:effectLst/>
                <a:latin typeface="Maiandra GD" panose="020E0502030308020204" pitchFamily="34" charset="0"/>
              </a:rPr>
              <a:t> showcasing neural network training and optimization techniques. </a:t>
            </a:r>
          </a:p>
        </p:txBody>
      </p:sp>
      <p:pic>
        <p:nvPicPr>
          <p:cNvPr id="5" name="Picture 4">
            <a:extLst>
              <a:ext uri="{FF2B5EF4-FFF2-40B4-BE49-F238E27FC236}">
                <a16:creationId xmlns:a16="http://schemas.microsoft.com/office/drawing/2014/main" id="{57DB4EC1-792F-3A2B-E774-47DA0BAE05B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52743" y="2705100"/>
            <a:ext cx="8043626" cy="60222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92020" y="38100"/>
            <a:ext cx="11923780" cy="10167494"/>
          </a:xfrm>
          <a:custGeom>
            <a:avLst/>
            <a:gdLst/>
            <a:ahLst/>
            <a:cxnLst/>
            <a:rect l="l" t="t" r="r" b="b"/>
            <a:pathLst>
              <a:path w="838907" h="295387">
                <a:moveTo>
                  <a:pt x="147694" y="0"/>
                </a:moveTo>
                <a:lnTo>
                  <a:pt x="691214" y="0"/>
                </a:lnTo>
                <a:cubicBezTo>
                  <a:pt x="730384" y="0"/>
                  <a:pt x="767951" y="15561"/>
                  <a:pt x="795649" y="43258"/>
                </a:cubicBezTo>
                <a:cubicBezTo>
                  <a:pt x="823347" y="70956"/>
                  <a:pt x="838907" y="108523"/>
                  <a:pt x="838907" y="147694"/>
                </a:cubicBezTo>
                <a:lnTo>
                  <a:pt x="838907" y="147694"/>
                </a:lnTo>
                <a:cubicBezTo>
                  <a:pt x="838907" y="186864"/>
                  <a:pt x="823347" y="224431"/>
                  <a:pt x="795649" y="252129"/>
                </a:cubicBezTo>
                <a:cubicBezTo>
                  <a:pt x="767951" y="279827"/>
                  <a:pt x="730384" y="295387"/>
                  <a:pt x="691214" y="295387"/>
                </a:cubicBezTo>
                <a:lnTo>
                  <a:pt x="147694" y="295387"/>
                </a:lnTo>
                <a:cubicBezTo>
                  <a:pt x="108523" y="295387"/>
                  <a:pt x="70956" y="279827"/>
                  <a:pt x="43258" y="252129"/>
                </a:cubicBezTo>
                <a:cubicBezTo>
                  <a:pt x="15561" y="224431"/>
                  <a:pt x="0" y="186864"/>
                  <a:pt x="0" y="147694"/>
                </a:cubicBezTo>
                <a:lnTo>
                  <a:pt x="0" y="147694"/>
                </a:lnTo>
                <a:cubicBezTo>
                  <a:pt x="0" y="108523"/>
                  <a:pt x="15561" y="70956"/>
                  <a:pt x="43258" y="43258"/>
                </a:cubicBezTo>
                <a:cubicBezTo>
                  <a:pt x="70956" y="15561"/>
                  <a:pt x="108523" y="0"/>
                  <a:pt x="147694" y="0"/>
                </a:cubicBezTo>
                <a:close/>
              </a:path>
            </a:pathLst>
          </a:custGeom>
          <a:solidFill>
            <a:schemeClr val="tx2">
              <a:lumMod val="20000"/>
              <a:lumOff val="80000"/>
            </a:schemeClr>
          </a:solidFill>
          <a:ln cap="rnd">
            <a:noFill/>
            <a:prstDash val="solid"/>
            <a:round/>
          </a:ln>
        </p:spPr>
      </p:sp>
      <p:sp>
        <p:nvSpPr>
          <p:cNvPr id="16" name="TextBox 16"/>
          <p:cNvSpPr txBox="1"/>
          <p:nvPr/>
        </p:nvSpPr>
        <p:spPr>
          <a:xfrm>
            <a:off x="10087017" y="-221213"/>
            <a:ext cx="8200983" cy="10440529"/>
          </a:xfrm>
          <a:prstGeom prst="rect">
            <a:avLst/>
          </a:prstGeom>
        </p:spPr>
        <p:txBody>
          <a:bodyPr lIns="50800" tIns="50800" rIns="50800" bIns="50800" rtlCol="0" anchor="ctr"/>
          <a:lstStyle/>
          <a:p>
            <a:pPr algn="ctr">
              <a:lnSpc>
                <a:spcPts val="2100"/>
              </a:lnSpc>
            </a:pPr>
            <a:endParaRPr/>
          </a:p>
        </p:txBody>
      </p:sp>
      <p:sp>
        <p:nvSpPr>
          <p:cNvPr id="18" name="TextBox 18"/>
          <p:cNvSpPr txBox="1"/>
          <p:nvPr/>
        </p:nvSpPr>
        <p:spPr>
          <a:xfrm>
            <a:off x="12498162" y="672989"/>
            <a:ext cx="5256438" cy="1098699"/>
          </a:xfrm>
          <a:prstGeom prst="rect">
            <a:avLst/>
          </a:prstGeom>
        </p:spPr>
        <p:txBody>
          <a:bodyPr wrap="square" lIns="0" tIns="0" rIns="0" bIns="0" rtlCol="0" anchor="t">
            <a:spAutoFit/>
          </a:bodyPr>
          <a:lstStyle/>
          <a:p>
            <a:pPr algn="l">
              <a:lnSpc>
                <a:spcPts val="9099"/>
              </a:lnSpc>
            </a:pPr>
            <a:r>
              <a:rPr lang="en-US" sz="6600" b="1" dirty="0">
                <a:solidFill>
                  <a:srgbClr val="2A2E3A"/>
                </a:solidFill>
                <a:latin typeface="Klein Bold"/>
                <a:ea typeface="Klein Bold"/>
                <a:cs typeface="Klein Bold"/>
                <a:sym typeface="Klein Bold"/>
              </a:rPr>
              <a:t>Methodology</a:t>
            </a:r>
            <a:endParaRPr lang="en-US" sz="6600" b="1" dirty="0">
              <a:solidFill>
                <a:srgbClr val="718BAB"/>
              </a:solidFill>
              <a:latin typeface="Klein Bold"/>
              <a:ea typeface="Klein Bold"/>
              <a:cs typeface="Klein Bold"/>
              <a:sym typeface="Klein Bold"/>
            </a:endParaRPr>
          </a:p>
        </p:txBody>
      </p:sp>
      <p:sp>
        <p:nvSpPr>
          <p:cNvPr id="36" name="Rectangle 5">
            <a:extLst>
              <a:ext uri="{FF2B5EF4-FFF2-40B4-BE49-F238E27FC236}">
                <a16:creationId xmlns:a16="http://schemas.microsoft.com/office/drawing/2014/main" id="{89BF8B7B-8E33-493F-DF09-2D1986698017}"/>
              </a:ext>
            </a:extLst>
          </p:cNvPr>
          <p:cNvSpPr>
            <a:spLocks noChangeArrowheads="1"/>
          </p:cNvSpPr>
          <p:nvPr/>
        </p:nvSpPr>
        <p:spPr bwMode="auto">
          <a:xfrm>
            <a:off x="1752600" y="-73313"/>
            <a:ext cx="9184982" cy="104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Maiandra GD" panose="020E0502030308020204" pitchFamily="34" charset="0"/>
              </a:rPr>
              <a:t>Neural Network Setup:</a:t>
            </a:r>
            <a:r>
              <a:rPr kumimoji="0" lang="en-US" altLang="en-US" sz="2400" b="0" i="0" u="none" strike="noStrike" cap="none" normalizeH="0" baseline="0" dirty="0">
                <a:ln>
                  <a:noFill/>
                </a:ln>
                <a:solidFill>
                  <a:schemeClr val="tx1"/>
                </a:solidFill>
                <a:effectLst/>
                <a:latin typeface="Maiandra GD" panose="020E0502030308020204" pitchFamily="34" charset="0"/>
              </a:rPr>
              <a:t> Configured a three-layer neural network with one hidden layer containing 100 neurons.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Maiandra GD" panose="020E0502030308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Maiandra GD" panose="020E0502030308020204" pitchFamily="34" charset="0"/>
              </a:rPr>
              <a:t>Loading Data:</a:t>
            </a:r>
            <a:r>
              <a:rPr kumimoji="0" lang="en-US" altLang="en-US" sz="2400" b="0" i="0" u="none" strike="noStrike" cap="none" normalizeH="0" baseline="0" dirty="0">
                <a:ln>
                  <a:noFill/>
                </a:ln>
                <a:solidFill>
                  <a:schemeClr val="tx1"/>
                </a:solidFill>
                <a:effectLst/>
                <a:latin typeface="Maiandra GD" panose="020E0502030308020204" pitchFamily="34" charset="0"/>
              </a:rPr>
              <a:t> Loaded features and labels from the MNIST dataset stored in a .mat file.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Maiandra GD" panose="020E0502030308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Maiandra GD" panose="020E0502030308020204" pitchFamily="34" charset="0"/>
              </a:rPr>
              <a:t>Rescaling Features:</a:t>
            </a:r>
            <a:r>
              <a:rPr kumimoji="0" lang="en-US" altLang="en-US" sz="2400" b="0" i="0" u="none" strike="noStrike" cap="none" normalizeH="0" baseline="0" dirty="0">
                <a:ln>
                  <a:noFill/>
                </a:ln>
                <a:solidFill>
                  <a:schemeClr val="tx1"/>
                </a:solidFill>
                <a:effectLst/>
                <a:latin typeface="Maiandra GD" panose="020E0502030308020204" pitchFamily="34" charset="0"/>
              </a:rPr>
              <a:t> Scaled feature values to a [0,1] range by dividing by 255 to stabilize training.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Maiandra GD" panose="020E0502030308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Maiandra GD" panose="020E0502030308020204" pitchFamily="34" charset="0"/>
              </a:rPr>
              <a:t>Data Splitting:</a:t>
            </a:r>
            <a:r>
              <a:rPr kumimoji="0" lang="en-US" altLang="en-US" sz="2400" b="0" i="0" u="none" strike="noStrike" cap="none" normalizeH="0" baseline="0" dirty="0">
                <a:ln>
                  <a:noFill/>
                </a:ln>
                <a:solidFill>
                  <a:schemeClr val="tx1"/>
                </a:solidFill>
                <a:effectLst/>
                <a:latin typeface="Maiandra GD" panose="020E0502030308020204" pitchFamily="34" charset="0"/>
              </a:rPr>
              <a:t> Divided data into 60,000 training examples and 10,000 testing examples.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Maiandra GD" panose="020E0502030308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Maiandra GD" panose="020E0502030308020204" pitchFamily="34" charset="0"/>
              </a:rPr>
              <a:t>Forward Propagation:</a:t>
            </a:r>
            <a:r>
              <a:rPr kumimoji="0" lang="en-US" altLang="en-US" sz="2400" b="0" i="0" u="none" strike="noStrike" cap="none" normalizeH="0" baseline="0" dirty="0">
                <a:ln>
                  <a:noFill/>
                </a:ln>
                <a:solidFill>
                  <a:schemeClr val="tx1"/>
                </a:solidFill>
                <a:effectLst/>
                <a:latin typeface="Maiandra GD" panose="020E0502030308020204" pitchFamily="34" charset="0"/>
              </a:rPr>
              <a:t> Calculated outputs layer by layer to make initial predictions.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Maiandra GD" panose="020E0502030308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Maiandra GD" panose="020E0502030308020204" pitchFamily="34" charset="0"/>
              </a:rPr>
              <a:t>Backpropagation and Optimization:</a:t>
            </a:r>
            <a:r>
              <a:rPr kumimoji="0" lang="en-US" altLang="en-US" sz="2400" b="0" i="0" u="none" strike="noStrike" cap="none" normalizeH="0" baseline="0" dirty="0">
                <a:ln>
                  <a:noFill/>
                </a:ln>
                <a:solidFill>
                  <a:schemeClr val="tx1"/>
                </a:solidFill>
                <a:effectLst/>
                <a:latin typeface="Maiandra GD" panose="020E0502030308020204" pitchFamily="34" charset="0"/>
              </a:rPr>
              <a:t> Applied backpropagation and adjusted weights to reduce error, with regularization to prevent overfitting.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Maiandra GD" panose="020E0502030308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Maiandra GD" panose="020E0502030308020204" pitchFamily="34" charset="0"/>
              </a:rPr>
              <a:t>Model Evaluation:</a:t>
            </a:r>
            <a:r>
              <a:rPr kumimoji="0" lang="en-US" altLang="en-US" sz="2400" b="0" i="0" u="none" strike="noStrike" cap="none" normalizeH="0" baseline="0" dirty="0">
                <a:ln>
                  <a:noFill/>
                </a:ln>
                <a:solidFill>
                  <a:schemeClr val="tx1"/>
                </a:solidFill>
                <a:effectLst/>
                <a:latin typeface="Maiandra GD" panose="020E0502030308020204" pitchFamily="34" charset="0"/>
              </a:rPr>
              <a:t> Assessed model accuracy on the test set to validate performance.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Maiandra GD" panose="020E0502030308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Maiandra GD" panose="020E0502030308020204" pitchFamily="34" charset="0"/>
              </a:rPr>
              <a:t>GUI Integration for Real-Time Recognition:</a:t>
            </a:r>
            <a:r>
              <a:rPr kumimoji="0" lang="en-US" altLang="en-US" sz="2400" b="0" i="0" u="none" strike="noStrike" cap="none" normalizeH="0" baseline="0" dirty="0">
                <a:ln>
                  <a:noFill/>
                </a:ln>
                <a:solidFill>
                  <a:schemeClr val="tx1"/>
                </a:solidFill>
                <a:effectLst/>
                <a:latin typeface="Maiandra GD" panose="020E0502030308020204" pitchFamily="34" charset="0"/>
              </a:rPr>
              <a:t> Developed a GUI to capture user-drawn digits and provide instant recognition.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Maiandra GD" panose="020E0502030308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Maiandra GD" panose="020E0502030308020204" pitchFamily="34" charset="0"/>
              </a:rPr>
              <a:t>Iterative Model Refinement:</a:t>
            </a:r>
            <a:r>
              <a:rPr kumimoji="0" lang="en-US" altLang="en-US" sz="2400" b="0" i="0" u="none" strike="noStrike" cap="none" normalizeH="0" baseline="0" dirty="0">
                <a:ln>
                  <a:noFill/>
                </a:ln>
                <a:solidFill>
                  <a:schemeClr val="tx1"/>
                </a:solidFill>
                <a:effectLst/>
                <a:latin typeface="Maiandra GD" panose="020E0502030308020204" pitchFamily="34" charset="0"/>
              </a:rPr>
              <a:t> Fine-tuned model parameters over multiple iterations to achieve optimal accuracy. </a:t>
            </a:r>
          </a:p>
        </p:txBody>
      </p:sp>
      <p:pic>
        <p:nvPicPr>
          <p:cNvPr id="4" name="Picture 3">
            <a:extLst>
              <a:ext uri="{FF2B5EF4-FFF2-40B4-BE49-F238E27FC236}">
                <a16:creationId xmlns:a16="http://schemas.microsoft.com/office/drawing/2014/main" id="{672277C0-B4C7-1B40-18DD-A7FA404072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9800" y="1386225"/>
            <a:ext cx="10438902" cy="722565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43000" y="-1481252"/>
            <a:ext cx="19735800" cy="13249503"/>
            <a:chOff x="-14331939" y="-2262074"/>
            <a:chExt cx="26314402" cy="17666005"/>
          </a:xfrm>
        </p:grpSpPr>
        <p:sp>
          <p:nvSpPr>
            <p:cNvPr id="3" name="Freeform 3"/>
            <p:cNvSpPr/>
            <p:nvPr/>
          </p:nvSpPr>
          <p:spPr>
            <a:xfrm rot="2695661">
              <a:off x="-14331939" y="-2262074"/>
              <a:ext cx="17717221" cy="17666005"/>
            </a:xfrm>
            <a:custGeom>
              <a:avLst/>
              <a:gdLst/>
              <a:ahLst/>
              <a:cxnLst/>
              <a:rect l="l" t="t" r="r" b="b"/>
              <a:pathLst>
                <a:path w="10252025" h="10252025">
                  <a:moveTo>
                    <a:pt x="0" y="0"/>
                  </a:moveTo>
                  <a:lnTo>
                    <a:pt x="10252025" y="0"/>
                  </a:lnTo>
                  <a:lnTo>
                    <a:pt x="10252025" y="10252025"/>
                  </a:lnTo>
                  <a:lnTo>
                    <a:pt x="0" y="10252025"/>
                  </a:lnTo>
                  <a:lnTo>
                    <a:pt x="0" y="0"/>
                  </a:lnTo>
                  <a:close/>
                </a:path>
              </a:pathLst>
            </a:custGeom>
            <a:blipFill>
              <a:blip>
                <a:alphaModFix amt="31000"/>
                <a:extLst>
                  <a:ext uri="{96DAC541-7B7A-43D3-8B79-37D633B846F1}">
                    <asvg:svgBlip xmlns:asvg="http://schemas.microsoft.com/office/drawing/2016/SVG/main" r:embed="rId2"/>
                  </a:ext>
                </a:extLst>
              </a:blip>
              <a:stretch>
                <a:fillRect/>
              </a:stretch>
            </a:blipFill>
          </p:spPr>
        </p:sp>
        <p:sp>
          <p:nvSpPr>
            <p:cNvPr id="4" name="Freeform 4"/>
            <p:cNvSpPr/>
            <p:nvPr/>
          </p:nvSpPr>
          <p:spPr>
            <a:xfrm>
              <a:off x="1212862" y="989126"/>
              <a:ext cx="10769601" cy="10612413"/>
            </a:xfrm>
            <a:custGeom>
              <a:avLst/>
              <a:gdLst/>
              <a:ahLst/>
              <a:cxnLst/>
              <a:rect l="l" t="t" r="r" b="b"/>
              <a:pathLst>
                <a:path w="10252025" h="10252025">
                  <a:moveTo>
                    <a:pt x="0" y="0"/>
                  </a:moveTo>
                  <a:lnTo>
                    <a:pt x="10252025" y="0"/>
                  </a:lnTo>
                  <a:lnTo>
                    <a:pt x="10252025" y="10252025"/>
                  </a:lnTo>
                  <a:lnTo>
                    <a:pt x="0" y="10252025"/>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sp>
        <p:nvSpPr>
          <p:cNvPr id="14" name="TextBox 13">
            <a:extLst>
              <a:ext uri="{FF2B5EF4-FFF2-40B4-BE49-F238E27FC236}">
                <a16:creationId xmlns:a16="http://schemas.microsoft.com/office/drawing/2014/main" id="{89F4D316-9B0B-E355-F107-15B020723537}"/>
              </a:ext>
            </a:extLst>
          </p:cNvPr>
          <p:cNvSpPr txBox="1"/>
          <p:nvPr/>
        </p:nvSpPr>
        <p:spPr>
          <a:xfrm>
            <a:off x="762000" y="1333500"/>
            <a:ext cx="9448800" cy="8032968"/>
          </a:xfrm>
          <a:prstGeom prst="rect">
            <a:avLst/>
          </a:prstGeom>
          <a:noFill/>
        </p:spPr>
        <p:txBody>
          <a:bodyPr wrap="square" rtlCol="0">
            <a:spAutoFit/>
          </a:bodyPr>
          <a:lstStyle/>
          <a:p>
            <a:r>
              <a:rPr lang="en-US" sz="4000" b="1" dirty="0">
                <a:latin typeface="Maiandra GD" panose="020E0502030308020204" pitchFamily="34" charset="0"/>
              </a:rPr>
              <a:t>Neural Network Overview:</a:t>
            </a:r>
          </a:p>
          <a:p>
            <a:endParaRPr lang="en-US" sz="3600" b="1" dirty="0">
              <a:latin typeface="Maiandra GD" panose="020E0502030308020204" pitchFamily="34" charset="0"/>
            </a:endParaRPr>
          </a:p>
          <a:p>
            <a:r>
              <a:rPr lang="en-US" sz="3200" b="1" dirty="0">
                <a:latin typeface="Maiandra GD" panose="020E0502030308020204" pitchFamily="34" charset="0"/>
              </a:rPr>
              <a:t>Structure</a:t>
            </a:r>
            <a:r>
              <a:rPr lang="en-US" sz="3200" dirty="0">
                <a:latin typeface="Maiandra GD" panose="020E0502030308020204" pitchFamily="34" charset="0"/>
              </a:rPr>
              <a:t>: </a:t>
            </a:r>
            <a:r>
              <a:rPr lang="en-US" sz="3000" dirty="0">
                <a:solidFill>
                  <a:schemeClr val="tx1">
                    <a:lumMod val="85000"/>
                    <a:lumOff val="15000"/>
                  </a:schemeClr>
                </a:solidFill>
                <a:latin typeface="Maiandra GD" panose="020E0502030308020204" pitchFamily="34" charset="0"/>
              </a:rPr>
              <a:t>The neural network used in this project is a three-layer model, comprising an input layer, one hidden layer with 100 neurons, and an output layer with 10 neurons (one for each digit class, 0-9). This architecture is designed to be lightweight yet effective for the MNIST dataset.</a:t>
            </a:r>
          </a:p>
          <a:p>
            <a:endParaRPr lang="en-US" sz="2800" dirty="0">
              <a:latin typeface="Maiandra GD" panose="020E0502030308020204" pitchFamily="34" charset="0"/>
            </a:endParaRPr>
          </a:p>
          <a:p>
            <a:r>
              <a:rPr lang="en-US" sz="3200" b="1" dirty="0">
                <a:latin typeface="Maiandra GD" panose="020E0502030308020204" pitchFamily="34" charset="0"/>
              </a:rPr>
              <a:t>Learning Process</a:t>
            </a:r>
            <a:r>
              <a:rPr lang="en-US" sz="3200" dirty="0">
                <a:latin typeface="Maiandra GD" panose="020E0502030308020204" pitchFamily="34" charset="0"/>
              </a:rPr>
              <a:t>: </a:t>
            </a:r>
            <a:r>
              <a:rPr lang="en-US" sz="3000" dirty="0">
                <a:solidFill>
                  <a:schemeClr val="tx1">
                    <a:lumMod val="85000"/>
                    <a:lumOff val="15000"/>
                  </a:schemeClr>
                </a:solidFill>
                <a:latin typeface="Maiandra GD" panose="020E0502030308020204" pitchFamily="34" charset="0"/>
              </a:rPr>
              <a:t>The neural network "learns" by adjusting its internal weights and biases based on the input data. During training, it gradually tunes these parameters to minimize the error between predicted and actual digit labels. This process, inspired by the way neurons in the human brain work, allows the model to improve over time.</a:t>
            </a:r>
          </a:p>
          <a:p>
            <a:endParaRPr lang="en-IN" dirty="0"/>
          </a:p>
        </p:txBody>
      </p:sp>
      <p:pic>
        <p:nvPicPr>
          <p:cNvPr id="16" name="Graphic 15">
            <a:extLst>
              <a:ext uri="{FF2B5EF4-FFF2-40B4-BE49-F238E27FC236}">
                <a16:creationId xmlns:a16="http://schemas.microsoft.com/office/drawing/2014/main" id="{A8702CF3-14DB-BC61-25E3-5C0D83C312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92000" y="2247900"/>
            <a:ext cx="4876800" cy="6502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53969"/>
        </a:solidFill>
        <a:effectLst/>
      </p:bgPr>
    </p:bg>
    <p:spTree>
      <p:nvGrpSpPr>
        <p:cNvPr id="1" name=""/>
        <p:cNvGrpSpPr/>
        <p:nvPr/>
      </p:nvGrpSpPr>
      <p:grpSpPr>
        <a:xfrm>
          <a:off x="0" y="0"/>
          <a:ext cx="0" cy="0"/>
          <a:chOff x="0" y="0"/>
          <a:chExt cx="0" cy="0"/>
        </a:xfrm>
      </p:grpSpPr>
      <p:grpSp>
        <p:nvGrpSpPr>
          <p:cNvPr id="2" name="Group 2"/>
          <p:cNvGrpSpPr/>
          <p:nvPr/>
        </p:nvGrpSpPr>
        <p:grpSpPr>
          <a:xfrm>
            <a:off x="514350" y="500285"/>
            <a:ext cx="17259300" cy="9286429"/>
            <a:chOff x="0" y="0"/>
            <a:chExt cx="4545659" cy="2445808"/>
          </a:xfrm>
        </p:grpSpPr>
        <p:sp>
          <p:nvSpPr>
            <p:cNvPr id="3" name="Freeform 3"/>
            <p:cNvSpPr/>
            <p:nvPr/>
          </p:nvSpPr>
          <p:spPr>
            <a:xfrm>
              <a:off x="0" y="0"/>
              <a:ext cx="4545659" cy="2445808"/>
            </a:xfrm>
            <a:custGeom>
              <a:avLst/>
              <a:gdLst/>
              <a:ahLst/>
              <a:cxnLst/>
              <a:rect l="l" t="t" r="r" b="b"/>
              <a:pathLst>
                <a:path w="4545659" h="2445808">
                  <a:moveTo>
                    <a:pt x="0" y="0"/>
                  </a:moveTo>
                  <a:lnTo>
                    <a:pt x="4545659" y="0"/>
                  </a:lnTo>
                  <a:lnTo>
                    <a:pt x="4545659" y="2445808"/>
                  </a:lnTo>
                  <a:lnTo>
                    <a:pt x="0" y="2445808"/>
                  </a:lnTo>
                  <a:close/>
                </a:path>
              </a:pathLst>
            </a:custGeom>
            <a:solidFill>
              <a:srgbClr val="FFFFFF"/>
            </a:solidFill>
          </p:spPr>
        </p:sp>
        <p:sp>
          <p:nvSpPr>
            <p:cNvPr id="4" name="TextBox 4"/>
            <p:cNvSpPr txBox="1"/>
            <p:nvPr/>
          </p:nvSpPr>
          <p:spPr>
            <a:xfrm>
              <a:off x="0" y="-47625"/>
              <a:ext cx="4545659" cy="2493433"/>
            </a:xfrm>
            <a:prstGeom prst="rect">
              <a:avLst/>
            </a:prstGeom>
          </p:spPr>
          <p:txBody>
            <a:bodyPr lIns="50800" tIns="50800" rIns="50800" bIns="50800" rtlCol="0" anchor="ctr"/>
            <a:lstStyle/>
            <a:p>
              <a:pPr algn="ctr">
                <a:lnSpc>
                  <a:spcPts val="3499"/>
                </a:lnSpc>
              </a:pPr>
              <a:endParaRPr/>
            </a:p>
          </p:txBody>
        </p:sp>
      </p:grpSp>
      <p:grpSp>
        <p:nvGrpSpPr>
          <p:cNvPr id="11" name="Group 11"/>
          <p:cNvGrpSpPr/>
          <p:nvPr/>
        </p:nvGrpSpPr>
        <p:grpSpPr>
          <a:xfrm>
            <a:off x="914400" y="114300"/>
            <a:ext cx="16611608" cy="9537396"/>
            <a:chOff x="-4774" y="-38100"/>
            <a:chExt cx="1040621" cy="639886"/>
          </a:xfrm>
        </p:grpSpPr>
        <p:sp>
          <p:nvSpPr>
            <p:cNvPr id="12" name="Freeform 12"/>
            <p:cNvSpPr/>
            <p:nvPr/>
          </p:nvSpPr>
          <p:spPr>
            <a:xfrm>
              <a:off x="-4774" y="1704"/>
              <a:ext cx="1035847" cy="600082"/>
            </a:xfrm>
            <a:custGeom>
              <a:avLst/>
              <a:gdLst/>
              <a:ahLst/>
              <a:cxnLst/>
              <a:rect l="l" t="t" r="r" b="b"/>
              <a:pathLst>
                <a:path w="1035847" h="600082">
                  <a:moveTo>
                    <a:pt x="61778" y="0"/>
                  </a:moveTo>
                  <a:lnTo>
                    <a:pt x="974070" y="0"/>
                  </a:lnTo>
                  <a:cubicBezTo>
                    <a:pt x="990454" y="0"/>
                    <a:pt x="1006167" y="6509"/>
                    <a:pt x="1017753" y="18094"/>
                  </a:cubicBezTo>
                  <a:cubicBezTo>
                    <a:pt x="1029338" y="29680"/>
                    <a:pt x="1035847" y="45393"/>
                    <a:pt x="1035847" y="61778"/>
                  </a:cubicBezTo>
                  <a:lnTo>
                    <a:pt x="1035847" y="538304"/>
                  </a:lnTo>
                  <a:cubicBezTo>
                    <a:pt x="1035847" y="554689"/>
                    <a:pt x="1029338" y="570402"/>
                    <a:pt x="1017753" y="581988"/>
                  </a:cubicBezTo>
                  <a:cubicBezTo>
                    <a:pt x="1006167" y="593573"/>
                    <a:pt x="990454" y="600082"/>
                    <a:pt x="974070" y="600082"/>
                  </a:cubicBezTo>
                  <a:lnTo>
                    <a:pt x="61778" y="600082"/>
                  </a:lnTo>
                  <a:cubicBezTo>
                    <a:pt x="27659" y="600082"/>
                    <a:pt x="0" y="572423"/>
                    <a:pt x="0" y="538304"/>
                  </a:cubicBezTo>
                  <a:lnTo>
                    <a:pt x="0" y="61778"/>
                  </a:lnTo>
                  <a:cubicBezTo>
                    <a:pt x="0" y="45393"/>
                    <a:pt x="6509" y="29680"/>
                    <a:pt x="18094" y="18094"/>
                  </a:cubicBezTo>
                  <a:cubicBezTo>
                    <a:pt x="29680" y="6509"/>
                    <a:pt x="45393" y="0"/>
                    <a:pt x="61778" y="0"/>
                  </a:cubicBezTo>
                  <a:close/>
                </a:path>
              </a:pathLst>
            </a:custGeom>
            <a:solidFill>
              <a:schemeClr val="tx2">
                <a:lumMod val="40000"/>
                <a:lumOff val="60000"/>
              </a:schemeClr>
            </a:solidFill>
          </p:spPr>
        </p:sp>
        <p:sp>
          <p:nvSpPr>
            <p:cNvPr id="13" name="TextBox 13"/>
            <p:cNvSpPr txBox="1"/>
            <p:nvPr/>
          </p:nvSpPr>
          <p:spPr>
            <a:xfrm>
              <a:off x="0" y="-38100"/>
              <a:ext cx="1035847" cy="638182"/>
            </a:xfrm>
            <a:prstGeom prst="rect">
              <a:avLst/>
            </a:prstGeom>
          </p:spPr>
          <p:txBody>
            <a:bodyPr lIns="254000" tIns="254000" rIns="254000" bIns="254000" rtlCol="0" anchor="ctr"/>
            <a:lstStyle/>
            <a:p>
              <a:pPr algn="ctr">
                <a:lnSpc>
                  <a:spcPts val="2100"/>
                </a:lnSpc>
              </a:pPr>
              <a:endParaRPr lang="en-US" sz="1500" dirty="0">
                <a:solidFill>
                  <a:srgbClr val="2A2E3A"/>
                </a:solidFill>
                <a:latin typeface="Helios"/>
                <a:ea typeface="Helios"/>
                <a:cs typeface="Helios"/>
                <a:sym typeface="Helios"/>
              </a:endParaRPr>
            </a:p>
          </p:txBody>
        </p:sp>
      </p:grpSp>
      <p:sp>
        <p:nvSpPr>
          <p:cNvPr id="31" name="TextBox 30">
            <a:extLst>
              <a:ext uri="{FF2B5EF4-FFF2-40B4-BE49-F238E27FC236}">
                <a16:creationId xmlns:a16="http://schemas.microsoft.com/office/drawing/2014/main" id="{C4D346F0-4DFD-061B-DD79-80AB98DE8967}"/>
              </a:ext>
            </a:extLst>
          </p:cNvPr>
          <p:cNvSpPr txBox="1"/>
          <p:nvPr/>
        </p:nvSpPr>
        <p:spPr>
          <a:xfrm>
            <a:off x="1504949" y="1178538"/>
            <a:ext cx="15868651" cy="8002191"/>
          </a:xfrm>
          <a:prstGeom prst="rect">
            <a:avLst/>
          </a:prstGeom>
          <a:noFill/>
        </p:spPr>
        <p:txBody>
          <a:bodyPr wrap="square" rtlCol="0">
            <a:spAutoFit/>
          </a:bodyPr>
          <a:lstStyle/>
          <a:p>
            <a:r>
              <a:rPr lang="en-US" sz="4800" b="1" dirty="0">
                <a:latin typeface="Maiandra GD" panose="020E0502030308020204" pitchFamily="34" charset="0"/>
              </a:rPr>
              <a:t>Data Processing:</a:t>
            </a:r>
          </a:p>
          <a:p>
            <a:endParaRPr lang="en-US" sz="3200" b="1" dirty="0">
              <a:latin typeface="Maiandra GD" panose="020E0502030308020204" pitchFamily="34" charset="0"/>
            </a:endParaRPr>
          </a:p>
          <a:p>
            <a:pPr>
              <a:buFont typeface="Arial" panose="020B0604020202020204" pitchFamily="34" charset="0"/>
              <a:buChar char="•"/>
            </a:pPr>
            <a:r>
              <a:rPr lang="en-US" sz="3200" b="1" dirty="0">
                <a:latin typeface="Maiandra GD" panose="020E0502030308020204" pitchFamily="34" charset="0"/>
              </a:rPr>
              <a:t>Data Loading</a:t>
            </a:r>
            <a:r>
              <a:rPr lang="en-US" sz="3200" dirty="0">
                <a:latin typeface="Maiandra GD" panose="020E0502030308020204" pitchFamily="34" charset="0"/>
              </a:rPr>
              <a:t>: </a:t>
            </a:r>
            <a:r>
              <a:rPr lang="en-US" sz="3200" dirty="0">
                <a:solidFill>
                  <a:schemeClr val="tx1">
                    <a:lumMod val="85000"/>
                    <a:lumOff val="15000"/>
                  </a:schemeClr>
                </a:solidFill>
                <a:latin typeface="Maiandra GD" panose="020E0502030308020204" pitchFamily="34" charset="0"/>
              </a:rPr>
              <a:t>The data for this project is loaded from the MNIST dataset, a large collection of 28x28-pixel grayscale images representing handwritten digits. Each image is labeled with the correct digit, providing both features (the image data) and labels (the correct digit).</a:t>
            </a:r>
          </a:p>
          <a:p>
            <a:pPr>
              <a:buFont typeface="Arial" panose="020B0604020202020204" pitchFamily="34" charset="0"/>
              <a:buChar char="•"/>
            </a:pPr>
            <a:endParaRPr lang="en-US" sz="3200" dirty="0">
              <a:latin typeface="Maiandra GD" panose="020E0502030308020204" pitchFamily="34" charset="0"/>
            </a:endParaRPr>
          </a:p>
          <a:p>
            <a:pPr>
              <a:buFont typeface="Arial" panose="020B0604020202020204" pitchFamily="34" charset="0"/>
              <a:buChar char="•"/>
            </a:pPr>
            <a:r>
              <a:rPr lang="en-US" sz="3200" b="1" dirty="0">
                <a:latin typeface="Maiandra GD" panose="020E0502030308020204" pitchFamily="34" charset="0"/>
              </a:rPr>
              <a:t>Feature Scaling</a:t>
            </a:r>
            <a:r>
              <a:rPr lang="en-US" sz="3200" dirty="0">
                <a:latin typeface="Maiandra GD" panose="020E0502030308020204" pitchFamily="34" charset="0"/>
              </a:rPr>
              <a:t>: </a:t>
            </a:r>
            <a:r>
              <a:rPr lang="en-US" sz="3200" dirty="0">
                <a:solidFill>
                  <a:schemeClr val="tx1">
                    <a:lumMod val="85000"/>
                    <a:lumOff val="15000"/>
                  </a:schemeClr>
                </a:solidFill>
                <a:latin typeface="Maiandra GD" panose="020E0502030308020204" pitchFamily="34" charset="0"/>
              </a:rPr>
              <a:t>Each pixel's grayscale value ranges from 0 to 255, which is scaled down by dividing by 255, transforming the range to [0,1]. This normalization prevents overflow during calculations and enhances the model’s ability to train more effectively.</a:t>
            </a:r>
          </a:p>
          <a:p>
            <a:pPr>
              <a:buFont typeface="Arial" panose="020B0604020202020204" pitchFamily="34" charset="0"/>
              <a:buChar char="•"/>
            </a:pPr>
            <a:endParaRPr lang="en-US" sz="3200" dirty="0">
              <a:solidFill>
                <a:schemeClr val="tx1">
                  <a:lumMod val="85000"/>
                  <a:lumOff val="15000"/>
                </a:schemeClr>
              </a:solidFill>
              <a:latin typeface="Maiandra GD" panose="020E0502030308020204" pitchFamily="34" charset="0"/>
            </a:endParaRPr>
          </a:p>
          <a:p>
            <a:pPr>
              <a:buFont typeface="Arial" panose="020B0604020202020204" pitchFamily="34" charset="0"/>
              <a:buChar char="•"/>
            </a:pPr>
            <a:r>
              <a:rPr lang="en-US" sz="3200" b="1" dirty="0">
                <a:latin typeface="Maiandra GD" panose="020E0502030308020204" pitchFamily="34" charset="0"/>
              </a:rPr>
              <a:t>Data Splitting</a:t>
            </a:r>
            <a:r>
              <a:rPr lang="en-US" sz="3200" dirty="0">
                <a:latin typeface="Maiandra GD" panose="020E0502030308020204" pitchFamily="34" charset="0"/>
              </a:rPr>
              <a:t>: </a:t>
            </a:r>
            <a:r>
              <a:rPr lang="en-US" sz="3200" dirty="0">
                <a:solidFill>
                  <a:schemeClr val="tx1">
                    <a:lumMod val="85000"/>
                    <a:lumOff val="15000"/>
                  </a:schemeClr>
                </a:solidFill>
                <a:latin typeface="Maiandra GD" panose="020E0502030308020204" pitchFamily="34" charset="0"/>
              </a:rPr>
              <a:t>To ensure that the model is both accurate and generalizable, the dataset is divided into a training set of 60,000 images and a testing set of 10,000 images. The training set is used to learn the digit patterns, while the testing set assesses how well the model performs on new, unseen data.</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11116002" y="4065376"/>
            <a:ext cx="3086100" cy="1588186"/>
          </a:xfrm>
          <a:prstGeom prst="rect">
            <a:avLst/>
          </a:prstGeom>
        </p:spPr>
        <p:txBody>
          <a:bodyPr lIns="254000" tIns="254000" rIns="254000" bIns="254000" rtlCol="0" anchor="ctr"/>
          <a:lstStyle/>
          <a:p>
            <a:pPr algn="ctr">
              <a:lnSpc>
                <a:spcPts val="3219"/>
              </a:lnSpc>
            </a:pPr>
            <a:r>
              <a:rPr lang="en-US" sz="2299" b="1" dirty="0">
                <a:solidFill>
                  <a:srgbClr val="FFFFFF"/>
                </a:solidFill>
                <a:latin typeface="Helios Bold"/>
                <a:ea typeface="Helios Bold"/>
                <a:cs typeface="Helios Bold"/>
                <a:sym typeface="Helios Bold"/>
              </a:rPr>
              <a:t>Add a</a:t>
            </a:r>
          </a:p>
          <a:p>
            <a:pPr algn="ctr">
              <a:lnSpc>
                <a:spcPts val="3219"/>
              </a:lnSpc>
            </a:pPr>
            <a:r>
              <a:rPr lang="en-US" sz="2299" b="1" dirty="0">
                <a:solidFill>
                  <a:srgbClr val="FFFFFF"/>
                </a:solidFill>
                <a:latin typeface="Helios Bold"/>
                <a:ea typeface="Helios Bold"/>
                <a:cs typeface="Helios Bold"/>
                <a:sym typeface="Helios Bold"/>
              </a:rPr>
              <a:t>main topic</a:t>
            </a:r>
          </a:p>
        </p:txBody>
      </p:sp>
      <p:sp>
        <p:nvSpPr>
          <p:cNvPr id="60" name="Freeform 7">
            <a:extLst>
              <a:ext uri="{FF2B5EF4-FFF2-40B4-BE49-F238E27FC236}">
                <a16:creationId xmlns:a16="http://schemas.microsoft.com/office/drawing/2014/main" id="{C85D802F-7B84-9504-5D3F-6D1ACCC426EF}"/>
              </a:ext>
            </a:extLst>
          </p:cNvPr>
          <p:cNvSpPr/>
          <p:nvPr/>
        </p:nvSpPr>
        <p:spPr>
          <a:xfrm>
            <a:off x="419100" y="95250"/>
            <a:ext cx="17449800" cy="10096500"/>
          </a:xfrm>
          <a:custGeom>
            <a:avLst/>
            <a:gdLst/>
            <a:ahLst/>
            <a:cxnLst/>
            <a:rect l="l" t="t" r="r" b="b"/>
            <a:pathLst>
              <a:path w="812800" h="361138">
                <a:moveTo>
                  <a:pt x="75259" y="0"/>
                </a:moveTo>
                <a:lnTo>
                  <a:pt x="737541" y="0"/>
                </a:lnTo>
                <a:cubicBezTo>
                  <a:pt x="779105" y="0"/>
                  <a:pt x="812800" y="33695"/>
                  <a:pt x="812800" y="75259"/>
                </a:cubicBezTo>
                <a:lnTo>
                  <a:pt x="812800" y="285879"/>
                </a:lnTo>
                <a:cubicBezTo>
                  <a:pt x="812800" y="305839"/>
                  <a:pt x="804871" y="324981"/>
                  <a:pt x="790757" y="339095"/>
                </a:cubicBezTo>
                <a:cubicBezTo>
                  <a:pt x="776643" y="353209"/>
                  <a:pt x="757501" y="361138"/>
                  <a:pt x="737541" y="361138"/>
                </a:cubicBezTo>
                <a:lnTo>
                  <a:pt x="75259" y="361138"/>
                </a:lnTo>
                <a:cubicBezTo>
                  <a:pt x="33695" y="361138"/>
                  <a:pt x="0" y="327443"/>
                  <a:pt x="0" y="285879"/>
                </a:cubicBezTo>
                <a:lnTo>
                  <a:pt x="0" y="75259"/>
                </a:lnTo>
                <a:cubicBezTo>
                  <a:pt x="0" y="33695"/>
                  <a:pt x="33695" y="0"/>
                  <a:pt x="75259" y="0"/>
                </a:cubicBezTo>
                <a:close/>
              </a:path>
            </a:pathLst>
          </a:custGeom>
          <a:solidFill>
            <a:schemeClr val="tx2">
              <a:lumMod val="40000"/>
              <a:lumOff val="60000"/>
            </a:schemeClr>
          </a:solidFill>
          <a:ln cap="rnd">
            <a:noFill/>
            <a:prstDash val="solid"/>
            <a:round/>
          </a:ln>
        </p:spPr>
      </p:sp>
      <p:sp>
        <p:nvSpPr>
          <p:cNvPr id="61" name="TextBox 60">
            <a:extLst>
              <a:ext uri="{FF2B5EF4-FFF2-40B4-BE49-F238E27FC236}">
                <a16:creationId xmlns:a16="http://schemas.microsoft.com/office/drawing/2014/main" id="{26D0F087-E500-0802-CB2E-72BDD4DBEE33}"/>
              </a:ext>
            </a:extLst>
          </p:cNvPr>
          <p:cNvSpPr txBox="1"/>
          <p:nvPr/>
        </p:nvSpPr>
        <p:spPr>
          <a:xfrm>
            <a:off x="1447800" y="299182"/>
            <a:ext cx="15392400" cy="5232202"/>
          </a:xfrm>
          <a:prstGeom prst="rect">
            <a:avLst/>
          </a:prstGeom>
          <a:noFill/>
        </p:spPr>
        <p:txBody>
          <a:bodyPr wrap="square" rtlCol="0">
            <a:spAutoFit/>
          </a:bodyPr>
          <a:lstStyle/>
          <a:p>
            <a:r>
              <a:rPr lang="en-US" sz="3600" b="1" dirty="0">
                <a:latin typeface="Maiandra GD" panose="020E0502030308020204" pitchFamily="34" charset="0"/>
              </a:rPr>
              <a:t>Model Training and Optimization:</a:t>
            </a:r>
          </a:p>
          <a:p>
            <a:endParaRPr lang="en-US" sz="2800" b="1" dirty="0">
              <a:latin typeface="Maiandra GD" panose="020E0502030308020204" pitchFamily="34" charset="0"/>
            </a:endParaRPr>
          </a:p>
          <a:p>
            <a:pPr>
              <a:buFont typeface="Arial" panose="020B0604020202020204" pitchFamily="34" charset="0"/>
              <a:buChar char="•"/>
            </a:pPr>
            <a:r>
              <a:rPr lang="en-US" sz="2800" b="1" dirty="0">
                <a:latin typeface="Maiandra GD" panose="020E0502030308020204" pitchFamily="34" charset="0"/>
              </a:rPr>
              <a:t>Forward Propagation</a:t>
            </a:r>
            <a:r>
              <a:rPr lang="en-US" sz="2800" dirty="0">
                <a:latin typeface="Maiandra GD" panose="020E0502030308020204" pitchFamily="34" charset="0"/>
              </a:rPr>
              <a:t>: </a:t>
            </a:r>
            <a:r>
              <a:rPr lang="en-US" sz="2800" dirty="0">
                <a:solidFill>
                  <a:schemeClr val="tx1">
                    <a:lumMod val="85000"/>
                    <a:lumOff val="15000"/>
                  </a:schemeClr>
                </a:solidFill>
                <a:latin typeface="Maiandra GD" panose="020E0502030308020204" pitchFamily="34" charset="0"/>
              </a:rPr>
              <a:t>During training, the model performs forward propagation, where each input image is processed layer by layer to produce a prediction. Each neuron computes a weighted sum of its inputs, applies the activation function, and passes the result to the next layer. The network's prediction is obtained in the output layer.</a:t>
            </a:r>
          </a:p>
          <a:p>
            <a:pPr>
              <a:buFont typeface="Arial" panose="020B0604020202020204" pitchFamily="34" charset="0"/>
              <a:buChar char="•"/>
            </a:pPr>
            <a:endParaRPr lang="en-US" sz="2800" dirty="0">
              <a:latin typeface="Maiandra GD" panose="020E0502030308020204" pitchFamily="34" charset="0"/>
            </a:endParaRPr>
          </a:p>
          <a:p>
            <a:pPr>
              <a:buFont typeface="Arial" panose="020B0604020202020204" pitchFamily="34" charset="0"/>
              <a:buChar char="•"/>
            </a:pPr>
            <a:r>
              <a:rPr lang="en-US" sz="2800" b="1" dirty="0">
                <a:latin typeface="Maiandra GD" panose="020E0502030308020204" pitchFamily="34" charset="0"/>
              </a:rPr>
              <a:t>Backpropagation and Error Minimization</a:t>
            </a:r>
            <a:r>
              <a:rPr lang="en-US" sz="2800" dirty="0">
                <a:latin typeface="Maiandra GD" panose="020E0502030308020204" pitchFamily="34" charset="0"/>
              </a:rPr>
              <a:t>: </a:t>
            </a:r>
            <a:r>
              <a:rPr lang="en-US" sz="2800" dirty="0">
                <a:solidFill>
                  <a:schemeClr val="tx1">
                    <a:lumMod val="85000"/>
                    <a:lumOff val="15000"/>
                  </a:schemeClr>
                </a:solidFill>
                <a:latin typeface="Maiandra GD" panose="020E0502030308020204" pitchFamily="34" charset="0"/>
              </a:rPr>
              <a:t>Backpropagation is used to adjust the model’s weights based on the error between the predicted and actual labels. It calculates gradients (the direction and rate of change) and updates weights to reduce error. This iterative process gradually improves the model's accuracy.</a:t>
            </a:r>
          </a:p>
          <a:p>
            <a:endParaRPr lang="en-IN" dirty="0"/>
          </a:p>
        </p:txBody>
      </p:sp>
      <p:sp>
        <p:nvSpPr>
          <p:cNvPr id="63" name="TextBox 62">
            <a:extLst>
              <a:ext uri="{FF2B5EF4-FFF2-40B4-BE49-F238E27FC236}">
                <a16:creationId xmlns:a16="http://schemas.microsoft.com/office/drawing/2014/main" id="{6FFAA444-C6EB-F881-DA90-A28267657A4B}"/>
              </a:ext>
            </a:extLst>
          </p:cNvPr>
          <p:cNvSpPr txBox="1"/>
          <p:nvPr/>
        </p:nvSpPr>
        <p:spPr>
          <a:xfrm>
            <a:off x="1447800" y="5408273"/>
            <a:ext cx="15621000" cy="4801314"/>
          </a:xfrm>
          <a:prstGeom prst="rect">
            <a:avLst/>
          </a:prstGeom>
          <a:noFill/>
        </p:spPr>
        <p:txBody>
          <a:bodyPr wrap="square" rtlCol="0">
            <a:spAutoFit/>
          </a:bodyPr>
          <a:lstStyle/>
          <a:p>
            <a:r>
              <a:rPr lang="en-US" sz="3600" b="1" dirty="0">
                <a:latin typeface="Maiandra GD" panose="020E0502030308020204" pitchFamily="34" charset="0"/>
              </a:rPr>
              <a:t>Model Evaluation:</a:t>
            </a:r>
          </a:p>
          <a:p>
            <a:endParaRPr lang="en-US" sz="2800" b="1" dirty="0">
              <a:latin typeface="Maiandra GD" panose="020E0502030308020204" pitchFamily="34" charset="0"/>
            </a:endParaRPr>
          </a:p>
          <a:p>
            <a:pPr>
              <a:buFont typeface="Arial" panose="020B0604020202020204" pitchFamily="34" charset="0"/>
              <a:buChar char="•"/>
            </a:pPr>
            <a:r>
              <a:rPr lang="en-US" sz="2800" b="1" dirty="0">
                <a:latin typeface="Maiandra GD" panose="020E0502030308020204" pitchFamily="34" charset="0"/>
              </a:rPr>
              <a:t>Testing Set Accuracy</a:t>
            </a:r>
            <a:r>
              <a:rPr lang="en-US" sz="2800" dirty="0">
                <a:latin typeface="Maiandra GD" panose="020E0502030308020204" pitchFamily="34" charset="0"/>
              </a:rPr>
              <a:t>: </a:t>
            </a:r>
            <a:r>
              <a:rPr lang="en-US" sz="2800" dirty="0">
                <a:solidFill>
                  <a:schemeClr val="tx1">
                    <a:lumMod val="85000"/>
                    <a:lumOff val="15000"/>
                  </a:schemeClr>
                </a:solidFill>
                <a:latin typeface="Maiandra GD" panose="020E0502030308020204" pitchFamily="34" charset="0"/>
              </a:rPr>
              <a:t>After training, the model’s accuracy is evaluated on the 10,000-image testing set. By comparing predictions to actual labels, the model's accuracy is calculated, reflecting its ability to generalize to new data. A high accuracy score indicates the model can reliably identify handwritten digits.</a:t>
            </a:r>
          </a:p>
          <a:p>
            <a:pPr>
              <a:buFont typeface="Arial" panose="020B0604020202020204" pitchFamily="34" charset="0"/>
              <a:buChar char="•"/>
            </a:pPr>
            <a:endParaRPr lang="en-US" sz="2800" dirty="0">
              <a:latin typeface="Maiandra GD" panose="020E0502030308020204" pitchFamily="34" charset="0"/>
            </a:endParaRPr>
          </a:p>
          <a:p>
            <a:pPr>
              <a:buFont typeface="Arial" panose="020B0604020202020204" pitchFamily="34" charset="0"/>
              <a:buChar char="•"/>
            </a:pPr>
            <a:r>
              <a:rPr lang="en-US" sz="2800" b="1" dirty="0">
                <a:latin typeface="Maiandra GD" panose="020E0502030308020204" pitchFamily="34" charset="0"/>
              </a:rPr>
              <a:t>Error Metrics</a:t>
            </a:r>
            <a:r>
              <a:rPr lang="en-US" sz="2800" dirty="0">
                <a:latin typeface="Maiandra GD" panose="020E0502030308020204" pitchFamily="34" charset="0"/>
              </a:rPr>
              <a:t>: </a:t>
            </a:r>
            <a:r>
              <a:rPr lang="en-US" sz="2800" dirty="0">
                <a:solidFill>
                  <a:schemeClr val="tx1">
                    <a:lumMod val="85000"/>
                    <a:lumOff val="15000"/>
                  </a:schemeClr>
                </a:solidFill>
                <a:latin typeface="Maiandra GD" panose="020E0502030308020204" pitchFamily="34" charset="0"/>
              </a:rPr>
              <a:t>Additional metrics, such as precision and recall, may be used to gain insights into specific digit recognition accuracy. These metrics help identify if certain digits (e.g., 3 vs. 8) are more challenging for the model, offering insight into potential areas for improvement.</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7">
            <a:extLst>
              <a:ext uri="{FF2B5EF4-FFF2-40B4-BE49-F238E27FC236}">
                <a16:creationId xmlns:a16="http://schemas.microsoft.com/office/drawing/2014/main" id="{09764523-275F-7396-04AF-CD9C1E3C86F9}"/>
              </a:ext>
            </a:extLst>
          </p:cNvPr>
          <p:cNvSpPr/>
          <p:nvPr/>
        </p:nvSpPr>
        <p:spPr>
          <a:xfrm>
            <a:off x="323850" y="57150"/>
            <a:ext cx="17640300" cy="10172700"/>
          </a:xfrm>
          <a:custGeom>
            <a:avLst/>
            <a:gdLst/>
            <a:ahLst/>
            <a:cxnLst/>
            <a:rect l="l" t="t" r="r" b="b"/>
            <a:pathLst>
              <a:path w="812800" h="361138">
                <a:moveTo>
                  <a:pt x="75259" y="0"/>
                </a:moveTo>
                <a:lnTo>
                  <a:pt x="737541" y="0"/>
                </a:lnTo>
                <a:cubicBezTo>
                  <a:pt x="779105" y="0"/>
                  <a:pt x="812800" y="33695"/>
                  <a:pt x="812800" y="75259"/>
                </a:cubicBezTo>
                <a:lnTo>
                  <a:pt x="812800" y="285879"/>
                </a:lnTo>
                <a:cubicBezTo>
                  <a:pt x="812800" y="305839"/>
                  <a:pt x="804871" y="324981"/>
                  <a:pt x="790757" y="339095"/>
                </a:cubicBezTo>
                <a:cubicBezTo>
                  <a:pt x="776643" y="353209"/>
                  <a:pt x="757501" y="361138"/>
                  <a:pt x="737541" y="361138"/>
                </a:cubicBezTo>
                <a:lnTo>
                  <a:pt x="75259" y="361138"/>
                </a:lnTo>
                <a:cubicBezTo>
                  <a:pt x="33695" y="361138"/>
                  <a:pt x="0" y="327443"/>
                  <a:pt x="0" y="285879"/>
                </a:cubicBezTo>
                <a:lnTo>
                  <a:pt x="0" y="75259"/>
                </a:lnTo>
                <a:cubicBezTo>
                  <a:pt x="0" y="33695"/>
                  <a:pt x="33695" y="0"/>
                  <a:pt x="75259" y="0"/>
                </a:cubicBezTo>
                <a:close/>
              </a:path>
            </a:pathLst>
          </a:custGeom>
          <a:solidFill>
            <a:schemeClr val="tx2">
              <a:lumMod val="40000"/>
              <a:lumOff val="60000"/>
            </a:schemeClr>
          </a:solidFill>
          <a:ln cap="rnd">
            <a:noFill/>
            <a:prstDash val="solid"/>
            <a:round/>
          </a:ln>
        </p:spPr>
      </p:sp>
      <p:sp>
        <p:nvSpPr>
          <p:cNvPr id="22" name="TextBox 21">
            <a:extLst>
              <a:ext uri="{FF2B5EF4-FFF2-40B4-BE49-F238E27FC236}">
                <a16:creationId xmlns:a16="http://schemas.microsoft.com/office/drawing/2014/main" id="{09073FCB-2F56-BCF6-1053-37A5CB5AFFFF}"/>
              </a:ext>
            </a:extLst>
          </p:cNvPr>
          <p:cNvSpPr txBox="1"/>
          <p:nvPr/>
        </p:nvSpPr>
        <p:spPr>
          <a:xfrm>
            <a:off x="1447800" y="876300"/>
            <a:ext cx="15944850" cy="8063746"/>
          </a:xfrm>
          <a:prstGeom prst="rect">
            <a:avLst/>
          </a:prstGeom>
          <a:noFill/>
        </p:spPr>
        <p:txBody>
          <a:bodyPr wrap="square" rtlCol="0">
            <a:spAutoFit/>
          </a:bodyPr>
          <a:lstStyle/>
          <a:p>
            <a:r>
              <a:rPr lang="en-US" sz="4400" b="1" dirty="0">
                <a:latin typeface="Maiandra GD" panose="020E0502030308020204" pitchFamily="34" charset="0"/>
              </a:rPr>
              <a:t>GUI for Real-Time Recognition:</a:t>
            </a:r>
          </a:p>
          <a:p>
            <a:endParaRPr lang="en-US" sz="2800" b="1" dirty="0">
              <a:latin typeface="Maiandra GD" panose="020E0502030308020204" pitchFamily="34" charset="0"/>
            </a:endParaRPr>
          </a:p>
          <a:p>
            <a:pPr>
              <a:buFont typeface="Arial" panose="020B0604020202020204" pitchFamily="34" charset="0"/>
              <a:buChar char="•"/>
            </a:pPr>
            <a:r>
              <a:rPr lang="en-US" sz="3600" b="1" dirty="0">
                <a:latin typeface="Maiandra GD" panose="020E0502030308020204" pitchFamily="34" charset="0"/>
              </a:rPr>
              <a:t>User Interaction</a:t>
            </a:r>
            <a:r>
              <a:rPr lang="en-US" sz="3600" dirty="0">
                <a:latin typeface="Maiandra GD" panose="020E0502030308020204" pitchFamily="34" charset="0"/>
              </a:rPr>
              <a:t>: </a:t>
            </a:r>
            <a:r>
              <a:rPr lang="en-US" sz="3200" dirty="0">
                <a:solidFill>
                  <a:schemeClr val="tx1">
                    <a:lumMod val="85000"/>
                    <a:lumOff val="15000"/>
                  </a:schemeClr>
                </a:solidFill>
                <a:latin typeface="Maiandra GD" panose="020E0502030308020204" pitchFamily="34" charset="0"/>
              </a:rPr>
              <a:t>A graphical user interface (GUI) enhances user interaction by allowing users to draw digits directly on the screen for real-time recognition. This feature adds a practical and interactive component to the project, making it accessible beyond pre-existing datasets.</a:t>
            </a:r>
          </a:p>
          <a:p>
            <a:pPr>
              <a:buFont typeface="Arial" panose="020B0604020202020204" pitchFamily="34" charset="0"/>
              <a:buChar char="•"/>
            </a:pPr>
            <a:endParaRPr lang="en-US" sz="3200" dirty="0">
              <a:latin typeface="Maiandra GD" panose="020E0502030308020204" pitchFamily="34" charset="0"/>
            </a:endParaRPr>
          </a:p>
          <a:p>
            <a:pPr>
              <a:buFont typeface="Arial" panose="020B0604020202020204" pitchFamily="34" charset="0"/>
              <a:buChar char="•"/>
            </a:pPr>
            <a:r>
              <a:rPr lang="en-US" sz="3600" b="1" dirty="0">
                <a:latin typeface="Maiandra GD" panose="020E0502030308020204" pitchFamily="34" charset="0"/>
              </a:rPr>
              <a:t>Image Processing for Input</a:t>
            </a:r>
            <a:r>
              <a:rPr lang="en-US" sz="3600" dirty="0">
                <a:latin typeface="Maiandra GD" panose="020E0502030308020204" pitchFamily="34" charset="0"/>
              </a:rPr>
              <a:t>: </a:t>
            </a:r>
            <a:r>
              <a:rPr lang="en-US" sz="3200" dirty="0">
                <a:solidFill>
                  <a:schemeClr val="tx1">
                    <a:lumMod val="85000"/>
                    <a:lumOff val="15000"/>
                  </a:schemeClr>
                </a:solidFill>
                <a:latin typeface="Maiandra GD" panose="020E0502030308020204" pitchFamily="34" charset="0"/>
              </a:rPr>
              <a:t>The GUI captures the user’s handwritten input as an image and resizes it to match the 28x28 input format of the MNIST dataset. This processed image is then fed into the neural network, which predicts and displays the digit in real-time.</a:t>
            </a:r>
          </a:p>
          <a:p>
            <a:pPr>
              <a:buFont typeface="Arial" panose="020B0604020202020204" pitchFamily="34" charset="0"/>
              <a:buChar char="•"/>
            </a:pPr>
            <a:endParaRPr lang="en-US" sz="3200" dirty="0">
              <a:latin typeface="Maiandra GD" panose="020E0502030308020204" pitchFamily="34" charset="0"/>
            </a:endParaRPr>
          </a:p>
          <a:p>
            <a:pPr>
              <a:buFont typeface="Arial" panose="020B0604020202020204" pitchFamily="34" charset="0"/>
              <a:buChar char="•"/>
            </a:pPr>
            <a:r>
              <a:rPr lang="en-US" sz="3600" b="1" dirty="0">
                <a:latin typeface="Maiandra GD" panose="020E0502030308020204" pitchFamily="34" charset="0"/>
              </a:rPr>
              <a:t>Output Display</a:t>
            </a:r>
            <a:r>
              <a:rPr lang="en-US" sz="3600" dirty="0">
                <a:latin typeface="Maiandra GD" panose="020E0502030308020204" pitchFamily="34" charset="0"/>
              </a:rPr>
              <a:t>: </a:t>
            </a:r>
            <a:r>
              <a:rPr lang="en-US" sz="3200" dirty="0">
                <a:solidFill>
                  <a:schemeClr val="tx1">
                    <a:lumMod val="85000"/>
                    <a:lumOff val="15000"/>
                  </a:schemeClr>
                </a:solidFill>
                <a:latin typeface="Maiandra GD" panose="020E0502030308020204" pitchFamily="34" charset="0"/>
              </a:rPr>
              <a:t>After the model predicts the drawn digit, the GUI instantly displays the recognized number to the user, demonstrating the model's recognition capabilities in a visually engaging way.</a:t>
            </a:r>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340491"/>
            <a:chOff x="0" y="0"/>
            <a:chExt cx="4816593" cy="616426"/>
          </a:xfrm>
        </p:grpSpPr>
        <p:sp>
          <p:nvSpPr>
            <p:cNvPr id="3" name="Freeform 3"/>
            <p:cNvSpPr/>
            <p:nvPr/>
          </p:nvSpPr>
          <p:spPr>
            <a:xfrm>
              <a:off x="0" y="0"/>
              <a:ext cx="4816592" cy="616426"/>
            </a:xfrm>
            <a:custGeom>
              <a:avLst/>
              <a:gdLst/>
              <a:ahLst/>
              <a:cxnLst/>
              <a:rect l="l" t="t" r="r" b="b"/>
              <a:pathLst>
                <a:path w="4816592" h="616426">
                  <a:moveTo>
                    <a:pt x="0" y="0"/>
                  </a:moveTo>
                  <a:lnTo>
                    <a:pt x="4816592" y="0"/>
                  </a:lnTo>
                  <a:lnTo>
                    <a:pt x="4816592" y="616426"/>
                  </a:lnTo>
                  <a:lnTo>
                    <a:pt x="0" y="616426"/>
                  </a:lnTo>
                  <a:close/>
                </a:path>
              </a:pathLst>
            </a:custGeom>
            <a:solidFill>
              <a:srgbClr val="153969"/>
            </a:solidFill>
          </p:spPr>
        </p:sp>
        <p:sp>
          <p:nvSpPr>
            <p:cNvPr id="4" name="TextBox 4"/>
            <p:cNvSpPr txBox="1"/>
            <p:nvPr/>
          </p:nvSpPr>
          <p:spPr>
            <a:xfrm>
              <a:off x="0" y="-57150"/>
              <a:ext cx="4816593" cy="673576"/>
            </a:xfrm>
            <a:prstGeom prst="rect">
              <a:avLst/>
            </a:prstGeom>
          </p:spPr>
          <p:txBody>
            <a:bodyPr lIns="50800" tIns="50800" rIns="50800" bIns="50800" rtlCol="0" anchor="ctr"/>
            <a:lstStyle/>
            <a:p>
              <a:pPr algn="ctr">
                <a:lnSpc>
                  <a:spcPts val="3639"/>
                </a:lnSpc>
              </a:pPr>
              <a:endParaRPr/>
            </a:p>
          </p:txBody>
        </p:sp>
      </p:grpSp>
      <p:sp>
        <p:nvSpPr>
          <p:cNvPr id="6" name="TextBox 6"/>
          <p:cNvSpPr txBox="1"/>
          <p:nvPr/>
        </p:nvSpPr>
        <p:spPr>
          <a:xfrm>
            <a:off x="2286000" y="598005"/>
            <a:ext cx="15354300" cy="1087157"/>
          </a:xfrm>
          <a:prstGeom prst="rect">
            <a:avLst/>
          </a:prstGeom>
        </p:spPr>
        <p:txBody>
          <a:bodyPr wrap="square" lIns="0" tIns="0" rIns="0" bIns="0" rtlCol="0" anchor="t">
            <a:spAutoFit/>
          </a:bodyPr>
          <a:lstStyle/>
          <a:p>
            <a:pPr algn="l">
              <a:lnSpc>
                <a:spcPts val="9099"/>
              </a:lnSpc>
            </a:pPr>
            <a:r>
              <a:rPr lang="en-US" sz="6999" b="1" dirty="0">
                <a:solidFill>
                  <a:schemeClr val="bg1"/>
                </a:solidFill>
                <a:latin typeface="Maiandra GD" panose="020E0502030308020204" pitchFamily="34" charset="0"/>
                <a:ea typeface="Klein Bold"/>
                <a:cs typeface="Klein Bold"/>
                <a:sym typeface="Klein Bold"/>
              </a:rPr>
              <a:t>Challenges and improvements:</a:t>
            </a:r>
          </a:p>
        </p:txBody>
      </p:sp>
      <p:sp>
        <p:nvSpPr>
          <p:cNvPr id="16" name="Freeform 16"/>
          <p:cNvSpPr/>
          <p:nvPr/>
        </p:nvSpPr>
        <p:spPr>
          <a:xfrm>
            <a:off x="431831" y="2966754"/>
            <a:ext cx="414910" cy="414910"/>
          </a:xfrm>
          <a:custGeom>
            <a:avLst/>
            <a:gdLst/>
            <a:ahLst/>
            <a:cxnLst/>
            <a:rect l="l" t="t" r="r" b="b"/>
            <a:pathLst>
              <a:path w="553213" h="553213">
                <a:moveTo>
                  <a:pt x="0" y="0"/>
                </a:moveTo>
                <a:lnTo>
                  <a:pt x="553213" y="0"/>
                </a:lnTo>
                <a:lnTo>
                  <a:pt x="553213" y="553213"/>
                </a:lnTo>
                <a:lnTo>
                  <a:pt x="0" y="55321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9" name="Freeform 19"/>
          <p:cNvSpPr/>
          <p:nvPr/>
        </p:nvSpPr>
        <p:spPr>
          <a:xfrm>
            <a:off x="418933" y="5257372"/>
            <a:ext cx="414910" cy="414910"/>
          </a:xfrm>
          <a:custGeom>
            <a:avLst/>
            <a:gdLst/>
            <a:ahLst/>
            <a:cxnLst/>
            <a:rect l="l" t="t" r="r" b="b"/>
            <a:pathLst>
              <a:path w="553213" h="553213">
                <a:moveTo>
                  <a:pt x="0" y="0"/>
                </a:moveTo>
                <a:lnTo>
                  <a:pt x="553213" y="0"/>
                </a:lnTo>
                <a:lnTo>
                  <a:pt x="553213" y="553213"/>
                </a:lnTo>
                <a:lnTo>
                  <a:pt x="0" y="55321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2" name="Freeform 22"/>
          <p:cNvSpPr/>
          <p:nvPr/>
        </p:nvSpPr>
        <p:spPr>
          <a:xfrm>
            <a:off x="418933" y="7962900"/>
            <a:ext cx="414910" cy="414910"/>
          </a:xfrm>
          <a:custGeom>
            <a:avLst/>
            <a:gdLst/>
            <a:ahLst/>
            <a:cxnLst/>
            <a:rect l="l" t="t" r="r" b="b"/>
            <a:pathLst>
              <a:path w="553213" h="553213">
                <a:moveTo>
                  <a:pt x="0" y="0"/>
                </a:moveTo>
                <a:lnTo>
                  <a:pt x="553213" y="0"/>
                </a:lnTo>
                <a:lnTo>
                  <a:pt x="553213" y="553213"/>
                </a:lnTo>
                <a:lnTo>
                  <a:pt x="0" y="55321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24" name="Group 24"/>
          <p:cNvGrpSpPr/>
          <p:nvPr/>
        </p:nvGrpSpPr>
        <p:grpSpPr>
          <a:xfrm>
            <a:off x="0" y="95288"/>
            <a:ext cx="18288000" cy="2274649"/>
            <a:chOff x="-16938" y="2188875"/>
            <a:chExt cx="24384000" cy="3032866"/>
          </a:xfrm>
        </p:grpSpPr>
        <p:pic>
          <p:nvPicPr>
            <p:cNvPr id="25" name="Picture 25"/>
            <p:cNvPicPr>
              <a:picLocks noChangeAspect="1"/>
            </p:cNvPicPr>
            <p:nvPr/>
          </p:nvPicPr>
          <p:blipFill>
            <a:blip r:embed="rId3">
              <a:alphaModFix amt="14000"/>
            </a:blip>
            <a:srcRect t="45734" b="45734"/>
            <a:stretch>
              <a:fillRect/>
            </a:stretch>
          </p:blipFill>
          <p:spPr>
            <a:xfrm>
              <a:off x="-16938" y="2188875"/>
              <a:ext cx="24384000" cy="3032866"/>
            </a:xfrm>
            <a:prstGeom prst="rect">
              <a:avLst/>
            </a:prstGeom>
          </p:spPr>
        </p:pic>
      </p:grpSp>
      <p:sp>
        <p:nvSpPr>
          <p:cNvPr id="26" name="TextBox 25">
            <a:extLst>
              <a:ext uri="{FF2B5EF4-FFF2-40B4-BE49-F238E27FC236}">
                <a16:creationId xmlns:a16="http://schemas.microsoft.com/office/drawing/2014/main" id="{D20DD594-64A3-A2CA-702F-DD67F25D5F1A}"/>
              </a:ext>
            </a:extLst>
          </p:cNvPr>
          <p:cNvSpPr txBox="1"/>
          <p:nvPr/>
        </p:nvSpPr>
        <p:spPr>
          <a:xfrm>
            <a:off x="1219200" y="2777252"/>
            <a:ext cx="16778970" cy="7509748"/>
          </a:xfrm>
          <a:prstGeom prst="rect">
            <a:avLst/>
          </a:prstGeom>
          <a:noFill/>
        </p:spPr>
        <p:txBody>
          <a:bodyPr wrap="square" rtlCol="0">
            <a:spAutoFit/>
          </a:bodyPr>
          <a:lstStyle/>
          <a:p>
            <a:r>
              <a:rPr lang="en-US" sz="3600" b="1" dirty="0">
                <a:latin typeface="Maiandra GD" panose="020E0502030308020204" pitchFamily="34" charset="0"/>
              </a:rPr>
              <a:t>Overfitting</a:t>
            </a:r>
            <a:r>
              <a:rPr lang="en-US" sz="3600" dirty="0">
                <a:latin typeface="Maiandra GD" panose="020E0502030308020204" pitchFamily="34" charset="0"/>
              </a:rPr>
              <a:t>: </a:t>
            </a:r>
            <a:r>
              <a:rPr lang="en-US" sz="3200" dirty="0">
                <a:solidFill>
                  <a:schemeClr val="tx1">
                    <a:lumMod val="85000"/>
                    <a:lumOff val="15000"/>
                  </a:schemeClr>
                </a:solidFill>
                <a:latin typeface="Maiandra GD" panose="020E0502030308020204" pitchFamily="34" charset="0"/>
              </a:rPr>
              <a:t>One of the key challenges in building neural networks is overfitting, where the model performs well on training data but poorly on unseen data. Regularization and proper data splitting help mitigate this, but fine-tuning can be iterative and requires careful attention.</a:t>
            </a:r>
          </a:p>
          <a:p>
            <a:endParaRPr lang="en-US" sz="2500" dirty="0">
              <a:solidFill>
                <a:schemeClr val="tx1">
                  <a:lumMod val="85000"/>
                  <a:lumOff val="15000"/>
                </a:schemeClr>
              </a:solidFill>
              <a:latin typeface="Maiandra GD" panose="020E0502030308020204" pitchFamily="34" charset="0"/>
            </a:endParaRPr>
          </a:p>
          <a:p>
            <a:pPr>
              <a:buFont typeface="Arial" panose="020B0604020202020204" pitchFamily="34" charset="0"/>
              <a:buChar char="•"/>
            </a:pPr>
            <a:endParaRPr lang="en-US" sz="2500" dirty="0">
              <a:latin typeface="Maiandra GD" panose="020E0502030308020204" pitchFamily="34" charset="0"/>
            </a:endParaRPr>
          </a:p>
          <a:p>
            <a:r>
              <a:rPr lang="en-US" sz="3600" b="1" dirty="0">
                <a:latin typeface="Maiandra GD" panose="020E0502030308020204" pitchFamily="34" charset="0"/>
              </a:rPr>
              <a:t>Digit Variability</a:t>
            </a:r>
            <a:r>
              <a:rPr lang="en-US" sz="3600" dirty="0">
                <a:latin typeface="Maiandra GD" panose="020E0502030308020204" pitchFamily="34" charset="0"/>
              </a:rPr>
              <a:t>: </a:t>
            </a:r>
            <a:r>
              <a:rPr lang="en-US" sz="3200" dirty="0">
                <a:solidFill>
                  <a:schemeClr val="tx1">
                    <a:lumMod val="85000"/>
                    <a:lumOff val="15000"/>
                  </a:schemeClr>
                </a:solidFill>
                <a:latin typeface="Maiandra GD" panose="020E0502030308020204" pitchFamily="34" charset="0"/>
              </a:rPr>
              <a:t>Handwritten digits vary widely in style, which can make recognition challenging. Even with a high-quality dataset like MNIST, certain digits (e.g., 1 and 7, or 5 and 6) may be easily confused. Exploring deeper networks or adding more hidden layers could improve accuracy.</a:t>
            </a:r>
          </a:p>
          <a:p>
            <a:endParaRPr lang="en-US" sz="2500" dirty="0">
              <a:solidFill>
                <a:schemeClr val="tx1">
                  <a:lumMod val="85000"/>
                  <a:lumOff val="15000"/>
                </a:schemeClr>
              </a:solidFill>
              <a:latin typeface="Maiandra GD" panose="020E0502030308020204" pitchFamily="34" charset="0"/>
            </a:endParaRPr>
          </a:p>
          <a:p>
            <a:endParaRPr lang="en-US" sz="2500" dirty="0">
              <a:solidFill>
                <a:schemeClr val="tx1">
                  <a:lumMod val="85000"/>
                  <a:lumOff val="15000"/>
                </a:schemeClr>
              </a:solidFill>
              <a:latin typeface="Maiandra GD" panose="020E0502030308020204" pitchFamily="34" charset="0"/>
            </a:endParaRPr>
          </a:p>
          <a:p>
            <a:r>
              <a:rPr lang="en-US" sz="3600" b="1" dirty="0">
                <a:latin typeface="Maiandra GD" panose="020E0502030308020204" pitchFamily="34" charset="0"/>
              </a:rPr>
              <a:t>Real-Time Processing</a:t>
            </a:r>
            <a:r>
              <a:rPr lang="en-US" sz="3600" dirty="0">
                <a:latin typeface="Maiandra GD" panose="020E0502030308020204" pitchFamily="34" charset="0"/>
              </a:rPr>
              <a:t>: </a:t>
            </a:r>
            <a:r>
              <a:rPr lang="en-US" sz="3200" dirty="0">
                <a:solidFill>
                  <a:schemeClr val="tx1">
                    <a:lumMod val="85000"/>
                    <a:lumOff val="15000"/>
                  </a:schemeClr>
                </a:solidFill>
                <a:latin typeface="Maiandra GD" panose="020E0502030308020204" pitchFamily="34" charset="0"/>
              </a:rPr>
              <a:t>Integrating real-time recognition into the GUI posed another challenge, as it requires both accurate prediction and fast processing to provide an immediate response. Optimization for speed without sacrificing accuracy was necessary to ensure a smooth user experience</a:t>
            </a:r>
            <a:r>
              <a:rPr lang="en-US" sz="3200" dirty="0">
                <a:latin typeface="Maiandra GD" panose="020E0502030308020204" pitchFamily="34" charset="0"/>
              </a:rPr>
              <a:t>.</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38600" y="131717"/>
            <a:ext cx="10401300" cy="10134600"/>
          </a:xfrm>
          <a:custGeom>
            <a:avLst/>
            <a:gdLst/>
            <a:ahLst/>
            <a:cxnLst/>
            <a:rect l="l" t="t" r="r" b="b"/>
            <a:pathLst>
              <a:path w="15978794" h="15978794">
                <a:moveTo>
                  <a:pt x="0" y="0"/>
                </a:moveTo>
                <a:lnTo>
                  <a:pt x="15978795" y="0"/>
                </a:lnTo>
                <a:lnTo>
                  <a:pt x="15978795" y="15978794"/>
                </a:lnTo>
                <a:lnTo>
                  <a:pt x="0" y="1597879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2" name="TextBox 31">
            <a:extLst>
              <a:ext uri="{FF2B5EF4-FFF2-40B4-BE49-F238E27FC236}">
                <a16:creationId xmlns:a16="http://schemas.microsoft.com/office/drawing/2014/main" id="{D5AE258E-4630-8D03-E417-981673359462}"/>
              </a:ext>
            </a:extLst>
          </p:cNvPr>
          <p:cNvSpPr txBox="1"/>
          <p:nvPr/>
        </p:nvSpPr>
        <p:spPr>
          <a:xfrm>
            <a:off x="190500" y="4635668"/>
            <a:ext cx="6172200" cy="1015663"/>
          </a:xfrm>
          <a:prstGeom prst="rect">
            <a:avLst/>
          </a:prstGeom>
          <a:noFill/>
        </p:spPr>
        <p:txBody>
          <a:bodyPr wrap="square" rtlCol="0">
            <a:spAutoFit/>
          </a:bodyPr>
          <a:lstStyle/>
          <a:p>
            <a:r>
              <a:rPr lang="en-US" sz="6000" dirty="0">
                <a:solidFill>
                  <a:schemeClr val="bg1"/>
                </a:solidFill>
                <a:latin typeface="Maiandra GD" panose="020E0502030308020204" pitchFamily="34" charset="0"/>
              </a:rPr>
              <a:t>CONCLUSION:</a:t>
            </a:r>
            <a:endParaRPr lang="en-IN" sz="6000" dirty="0">
              <a:solidFill>
                <a:schemeClr val="bg1"/>
              </a:solidFill>
              <a:latin typeface="Maiandra GD" panose="020E0502030308020204" pitchFamily="34" charset="0"/>
            </a:endParaRPr>
          </a:p>
        </p:txBody>
      </p:sp>
      <p:sp>
        <p:nvSpPr>
          <p:cNvPr id="34" name="TextBox 33">
            <a:extLst>
              <a:ext uri="{FF2B5EF4-FFF2-40B4-BE49-F238E27FC236}">
                <a16:creationId xmlns:a16="http://schemas.microsoft.com/office/drawing/2014/main" id="{C33AC733-73FE-9992-C9D4-9C9DC9BCFD2E}"/>
              </a:ext>
            </a:extLst>
          </p:cNvPr>
          <p:cNvSpPr txBox="1"/>
          <p:nvPr/>
        </p:nvSpPr>
        <p:spPr>
          <a:xfrm>
            <a:off x="6858000" y="773073"/>
            <a:ext cx="10668000" cy="8740854"/>
          </a:xfrm>
          <a:prstGeom prst="rect">
            <a:avLst/>
          </a:prstGeom>
          <a:noFill/>
        </p:spPr>
        <p:txBody>
          <a:bodyPr wrap="square" rtlCol="0">
            <a:spAutoFit/>
          </a:bodyPr>
          <a:lstStyle/>
          <a:p>
            <a:r>
              <a:rPr lang="en-US" sz="3600" b="1" dirty="0">
                <a:latin typeface="Maiandra GD" panose="020E0502030308020204" pitchFamily="34" charset="0"/>
              </a:rPr>
              <a:t>Project Summary</a:t>
            </a:r>
            <a:r>
              <a:rPr lang="en-US" sz="3600" dirty="0">
                <a:latin typeface="Maiandra GD" panose="020E0502030308020204" pitchFamily="34" charset="0"/>
              </a:rPr>
              <a:t>: </a:t>
            </a:r>
            <a:r>
              <a:rPr lang="en-US" sz="3200" dirty="0">
                <a:solidFill>
                  <a:schemeClr val="tx1">
                    <a:lumMod val="85000"/>
                    <a:lumOff val="15000"/>
                  </a:schemeClr>
                </a:solidFill>
                <a:latin typeface="Maiandra GD" panose="020E0502030308020204" pitchFamily="34" charset="0"/>
              </a:rPr>
              <a:t>This project successfully developed an AI-powered handwritten digit recognition system using a neural network. It accurately identifies handwritten digits from the MNIST dataset and can recognize user-drawn digits in real-time through an interactive GUI.</a:t>
            </a:r>
          </a:p>
          <a:p>
            <a:endParaRPr lang="en-US" sz="3200" dirty="0">
              <a:latin typeface="Maiandra GD" panose="020E0502030308020204" pitchFamily="34" charset="0"/>
            </a:endParaRPr>
          </a:p>
          <a:p>
            <a:r>
              <a:rPr lang="en-US" sz="3600" b="1" dirty="0">
                <a:latin typeface="Maiandra GD" panose="020E0502030308020204" pitchFamily="34" charset="0"/>
              </a:rPr>
              <a:t>Impact and Applications</a:t>
            </a:r>
            <a:r>
              <a:rPr lang="en-US" sz="3600" dirty="0">
                <a:latin typeface="Maiandra GD" panose="020E0502030308020204" pitchFamily="34" charset="0"/>
              </a:rPr>
              <a:t>: </a:t>
            </a:r>
            <a:r>
              <a:rPr lang="en-US" sz="3200" dirty="0">
                <a:solidFill>
                  <a:schemeClr val="tx1">
                    <a:lumMod val="85000"/>
                    <a:lumOff val="15000"/>
                  </a:schemeClr>
                </a:solidFill>
                <a:latin typeface="Maiandra GD" panose="020E0502030308020204" pitchFamily="34" charset="0"/>
              </a:rPr>
              <a:t>The project showcases the power of neural networks for image recognition tasks and demonstrates a potential real-world application for handwritten digit processing, such as in postal services, automated form processing, and banking.</a:t>
            </a:r>
          </a:p>
          <a:p>
            <a:endParaRPr lang="en-US" sz="3200" dirty="0">
              <a:solidFill>
                <a:schemeClr val="tx1">
                  <a:lumMod val="85000"/>
                  <a:lumOff val="15000"/>
                </a:schemeClr>
              </a:solidFill>
              <a:latin typeface="Maiandra GD" panose="020E0502030308020204" pitchFamily="34" charset="0"/>
            </a:endParaRPr>
          </a:p>
          <a:p>
            <a:r>
              <a:rPr lang="en-US" sz="3600" b="1" dirty="0">
                <a:latin typeface="Maiandra GD" panose="020E0502030308020204" pitchFamily="34" charset="0"/>
              </a:rPr>
              <a:t>Future Scope</a:t>
            </a:r>
            <a:r>
              <a:rPr lang="en-US" sz="3600" dirty="0">
                <a:latin typeface="Maiandra GD" panose="020E0502030308020204" pitchFamily="34" charset="0"/>
              </a:rPr>
              <a:t>: </a:t>
            </a:r>
            <a:r>
              <a:rPr lang="en-US" sz="3200" dirty="0">
                <a:solidFill>
                  <a:schemeClr val="tx1">
                    <a:lumMod val="85000"/>
                    <a:lumOff val="15000"/>
                  </a:schemeClr>
                </a:solidFill>
                <a:latin typeface="Maiandra GD" panose="020E0502030308020204" pitchFamily="34" charset="0"/>
              </a:rPr>
              <a:t>The project can be expanded by training the model to recognize other characters or symbols, integrating additional layers to enhance accuracy, or further improving the GUI to make it a fully interactive digit recognition application.</a:t>
            </a:r>
          </a:p>
        </p:txBody>
      </p:sp>
      <p:sp>
        <p:nvSpPr>
          <p:cNvPr id="35" name="Freeform 16">
            <a:extLst>
              <a:ext uri="{FF2B5EF4-FFF2-40B4-BE49-F238E27FC236}">
                <a16:creationId xmlns:a16="http://schemas.microsoft.com/office/drawing/2014/main" id="{116BBE23-3F39-ACCC-0D8B-60BC69FF472C}"/>
              </a:ext>
            </a:extLst>
          </p:cNvPr>
          <p:cNvSpPr/>
          <p:nvPr/>
        </p:nvSpPr>
        <p:spPr>
          <a:xfrm>
            <a:off x="6258973" y="6838564"/>
            <a:ext cx="414910" cy="414910"/>
          </a:xfrm>
          <a:custGeom>
            <a:avLst/>
            <a:gdLst/>
            <a:ahLst/>
            <a:cxnLst/>
            <a:rect l="l" t="t" r="r" b="b"/>
            <a:pathLst>
              <a:path w="553213" h="553213">
                <a:moveTo>
                  <a:pt x="0" y="0"/>
                </a:moveTo>
                <a:lnTo>
                  <a:pt x="553213" y="0"/>
                </a:lnTo>
                <a:lnTo>
                  <a:pt x="553213" y="553213"/>
                </a:lnTo>
                <a:lnTo>
                  <a:pt x="0" y="55321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6" name="Freeform 16">
            <a:extLst>
              <a:ext uri="{FF2B5EF4-FFF2-40B4-BE49-F238E27FC236}">
                <a16:creationId xmlns:a16="http://schemas.microsoft.com/office/drawing/2014/main" id="{679F996E-3059-D135-5E76-1BCE44586FA2}"/>
              </a:ext>
            </a:extLst>
          </p:cNvPr>
          <p:cNvSpPr/>
          <p:nvPr/>
        </p:nvSpPr>
        <p:spPr>
          <a:xfrm>
            <a:off x="6195440" y="3825721"/>
            <a:ext cx="414910" cy="414910"/>
          </a:xfrm>
          <a:custGeom>
            <a:avLst/>
            <a:gdLst/>
            <a:ahLst/>
            <a:cxnLst/>
            <a:rect l="l" t="t" r="r" b="b"/>
            <a:pathLst>
              <a:path w="553213" h="553213">
                <a:moveTo>
                  <a:pt x="0" y="0"/>
                </a:moveTo>
                <a:lnTo>
                  <a:pt x="553213" y="0"/>
                </a:lnTo>
                <a:lnTo>
                  <a:pt x="553213" y="553213"/>
                </a:lnTo>
                <a:lnTo>
                  <a:pt x="0" y="55321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7" name="Freeform 16">
            <a:extLst>
              <a:ext uri="{FF2B5EF4-FFF2-40B4-BE49-F238E27FC236}">
                <a16:creationId xmlns:a16="http://schemas.microsoft.com/office/drawing/2014/main" id="{928E65F4-C790-1FD4-8EBE-FA9640E699D2}"/>
              </a:ext>
            </a:extLst>
          </p:cNvPr>
          <p:cNvSpPr/>
          <p:nvPr/>
        </p:nvSpPr>
        <p:spPr>
          <a:xfrm>
            <a:off x="6155245" y="952500"/>
            <a:ext cx="414910" cy="414910"/>
          </a:xfrm>
          <a:custGeom>
            <a:avLst/>
            <a:gdLst/>
            <a:ahLst/>
            <a:cxnLst/>
            <a:rect l="l" t="t" r="r" b="b"/>
            <a:pathLst>
              <a:path w="553213" h="553213">
                <a:moveTo>
                  <a:pt x="0" y="0"/>
                </a:moveTo>
                <a:lnTo>
                  <a:pt x="553213" y="0"/>
                </a:lnTo>
                <a:lnTo>
                  <a:pt x="553213" y="553213"/>
                </a:lnTo>
                <a:lnTo>
                  <a:pt x="0" y="553213"/>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p:cNvGraphicFramePr>
            <a:graphicFrameLocks noGrp="1"/>
          </p:cNvGraphicFramePr>
          <p:nvPr>
            <p:extLst>
              <p:ext uri="{D42A27DB-BD31-4B8C-83A1-F6EECF244321}">
                <p14:modId xmlns:p14="http://schemas.microsoft.com/office/powerpoint/2010/main" val="3107252775"/>
              </p:ext>
            </p:extLst>
          </p:nvPr>
        </p:nvGraphicFramePr>
        <p:xfrm>
          <a:off x="2819400" y="3390900"/>
          <a:ext cx="13182600" cy="5002854"/>
        </p:xfrm>
        <a:graphic>
          <a:graphicData uri="http://schemas.openxmlformats.org/drawingml/2006/table">
            <a:tbl>
              <a:tblPr/>
              <a:tblGrid>
                <a:gridCol w="1426127">
                  <a:extLst>
                    <a:ext uri="{9D8B030D-6E8A-4147-A177-3AD203B41FA5}">
                      <a16:colId xmlns:a16="http://schemas.microsoft.com/office/drawing/2014/main" val="20000"/>
                    </a:ext>
                  </a:extLst>
                </a:gridCol>
                <a:gridCol w="11756473">
                  <a:extLst>
                    <a:ext uri="{9D8B030D-6E8A-4147-A177-3AD203B41FA5}">
                      <a16:colId xmlns:a16="http://schemas.microsoft.com/office/drawing/2014/main" val="20001"/>
                    </a:ext>
                  </a:extLst>
                </a:gridCol>
              </a:tblGrid>
              <a:tr h="1667618">
                <a:tc>
                  <a:txBody>
                    <a:bodyPr/>
                    <a:lstStyle/>
                    <a:p>
                      <a:pPr algn="l">
                        <a:lnSpc>
                          <a:spcPts val="3079"/>
                        </a:lnSpc>
                        <a:defRPr/>
                      </a:pPr>
                      <a:r>
                        <a:rPr lang="en-US" sz="3200" b="1" dirty="0">
                          <a:solidFill>
                            <a:srgbClr val="002060"/>
                          </a:solidFill>
                          <a:latin typeface="Helios Bold"/>
                          <a:ea typeface="Helios Bold"/>
                          <a:cs typeface="Helios Bold"/>
                          <a:sym typeface="Helios Bold"/>
                        </a:rPr>
                        <a:t>1</a:t>
                      </a:r>
                      <a:endParaRPr lang="en-US" sz="3200" dirty="0">
                        <a:solidFill>
                          <a:srgbClr val="002060"/>
                        </a:solidFill>
                      </a:endParaRPr>
                    </a:p>
                  </a:txBody>
                  <a:tcPr marL="76200" marR="76200" marT="76200" marB="76200" anchor="ctr">
                    <a:lnL w="0" cap="flat" cmpd="sng" algn="ctr">
                      <a:solidFill>
                        <a:srgbClr val="141E32"/>
                      </a:solidFill>
                      <a:prstDash val="solid"/>
                      <a:round/>
                      <a:headEnd type="none" w="med" len="med"/>
                      <a:tailEnd type="none" w="med" len="med"/>
                    </a:lnL>
                    <a:lnR w="0" cap="flat" cmpd="sng" algn="ctr">
                      <a:solidFill>
                        <a:srgbClr val="141E32"/>
                      </a:solidFill>
                      <a:prstDash val="solid"/>
                      <a:round/>
                      <a:headEnd type="none" w="med" len="med"/>
                      <a:tailEnd type="none" w="med" len="med"/>
                    </a:lnR>
                    <a:lnT w="0" cap="flat" cmpd="sng" algn="ctr">
                      <a:solidFill>
                        <a:srgbClr val="141E32"/>
                      </a:solidFill>
                      <a:prstDash val="solid"/>
                      <a:round/>
                      <a:headEnd type="none" w="med" len="med"/>
                      <a:tailEnd type="none" w="med" len="med"/>
                    </a:lnT>
                    <a:lnB w="0" cap="flat" cmpd="sng" algn="ctr">
                      <a:solidFill>
                        <a:srgbClr val="141E32"/>
                      </a:solidFill>
                      <a:prstDash val="solid"/>
                      <a:round/>
                      <a:headEnd type="none" w="med" len="med"/>
                      <a:tailEnd type="none" w="med" len="med"/>
                    </a:lnB>
                  </a:tcPr>
                </a:tc>
                <a:tc>
                  <a:txBody>
                    <a:bodyPr/>
                    <a:lstStyle/>
                    <a:p>
                      <a:pPr algn="l">
                        <a:lnSpc>
                          <a:spcPts val="2799"/>
                        </a:lnSpc>
                        <a:defRPr/>
                      </a:pPr>
                      <a:r>
                        <a:rPr lang="en-IN" sz="2000" b="0" dirty="0">
                          <a:hlinkClick r:id="rId2"/>
                        </a:rPr>
                        <a:t>MNIST Handwritten Digit Recognition using multi-layer neural network | by GARGI JHA | Analytics Vidhya | Medium</a:t>
                      </a:r>
                      <a:endParaRPr lang="en-US" sz="2000" b="0" dirty="0"/>
                    </a:p>
                  </a:txBody>
                  <a:tcPr marL="76200" marR="76200" marT="76200" marB="76200" anchor="ctr">
                    <a:lnL w="0" cap="flat" cmpd="sng" algn="ctr">
                      <a:solidFill>
                        <a:srgbClr val="141E32"/>
                      </a:solidFill>
                      <a:prstDash val="solid"/>
                      <a:round/>
                      <a:headEnd type="none" w="med" len="med"/>
                      <a:tailEnd type="none" w="med" len="med"/>
                    </a:lnL>
                    <a:lnR w="0" cap="flat" cmpd="sng" algn="ctr">
                      <a:solidFill>
                        <a:srgbClr val="141E32"/>
                      </a:solidFill>
                      <a:prstDash val="solid"/>
                      <a:round/>
                      <a:headEnd type="none" w="med" len="med"/>
                      <a:tailEnd type="none" w="med" len="med"/>
                    </a:lnR>
                    <a:lnT w="0" cap="flat" cmpd="sng" algn="ctr">
                      <a:solidFill>
                        <a:srgbClr val="141E32"/>
                      </a:solidFill>
                      <a:prstDash val="solid"/>
                      <a:round/>
                      <a:headEnd type="none" w="med" len="med"/>
                      <a:tailEnd type="none" w="med" len="med"/>
                    </a:lnT>
                    <a:lnB w="0" cap="flat" cmpd="sng" algn="ctr">
                      <a:solidFill>
                        <a:srgbClr val="141E32"/>
                      </a:solidFill>
                      <a:prstDash val="solid"/>
                      <a:round/>
                      <a:headEnd type="none" w="med" len="med"/>
                      <a:tailEnd type="none" w="med" len="med"/>
                    </a:lnB>
                  </a:tcPr>
                </a:tc>
                <a:extLst>
                  <a:ext uri="{0D108BD9-81ED-4DB2-BD59-A6C34878D82A}">
                    <a16:rowId xmlns:a16="http://schemas.microsoft.com/office/drawing/2014/main" val="10000"/>
                  </a:ext>
                </a:extLst>
              </a:tr>
              <a:tr h="1667618">
                <a:tc>
                  <a:txBody>
                    <a:bodyPr/>
                    <a:lstStyle/>
                    <a:p>
                      <a:pPr algn="l">
                        <a:lnSpc>
                          <a:spcPts val="3079"/>
                        </a:lnSpc>
                        <a:defRPr/>
                      </a:pPr>
                      <a:r>
                        <a:rPr lang="en-US" sz="3200" b="1" dirty="0">
                          <a:solidFill>
                            <a:srgbClr val="002060"/>
                          </a:solidFill>
                          <a:latin typeface="Helios Bold"/>
                          <a:ea typeface="Helios Bold"/>
                          <a:cs typeface="Helios Bold"/>
                          <a:sym typeface="Helios Bold"/>
                        </a:rPr>
                        <a:t>2</a:t>
                      </a:r>
                      <a:endParaRPr lang="en-US" sz="3200" dirty="0">
                        <a:solidFill>
                          <a:srgbClr val="002060"/>
                        </a:solidFill>
                      </a:endParaRPr>
                    </a:p>
                  </a:txBody>
                  <a:tcPr marL="76200" marR="76200" marT="76200" marB="76200" anchor="ctr">
                    <a:lnL w="0" cap="flat" cmpd="sng" algn="ctr">
                      <a:solidFill>
                        <a:srgbClr val="141E32"/>
                      </a:solidFill>
                      <a:prstDash val="solid"/>
                      <a:round/>
                      <a:headEnd type="none" w="med" len="med"/>
                      <a:tailEnd type="none" w="med" len="med"/>
                    </a:lnL>
                    <a:lnR w="0" cap="flat" cmpd="sng" algn="ctr">
                      <a:solidFill>
                        <a:srgbClr val="141E32"/>
                      </a:solidFill>
                      <a:prstDash val="solid"/>
                      <a:round/>
                      <a:headEnd type="none" w="med" len="med"/>
                      <a:tailEnd type="none" w="med" len="med"/>
                    </a:lnR>
                    <a:lnT w="0" cap="flat" cmpd="sng" algn="ctr">
                      <a:solidFill>
                        <a:srgbClr val="141E32"/>
                      </a:solidFill>
                      <a:prstDash val="solid"/>
                      <a:round/>
                      <a:headEnd type="none" w="med" len="med"/>
                      <a:tailEnd type="none" w="med" len="med"/>
                    </a:lnT>
                    <a:lnB w="0" cap="flat" cmpd="sng" algn="ctr">
                      <a:solidFill>
                        <a:srgbClr val="141E32"/>
                      </a:solidFill>
                      <a:prstDash val="solid"/>
                      <a:round/>
                      <a:headEnd type="none" w="med" len="med"/>
                      <a:tailEnd type="none" w="med" len="med"/>
                    </a:lnB>
                  </a:tcPr>
                </a:tc>
                <a:tc>
                  <a:txBody>
                    <a:bodyPr/>
                    <a:lstStyle/>
                    <a:p>
                      <a:pPr algn="l">
                        <a:lnSpc>
                          <a:spcPts val="2799"/>
                        </a:lnSpc>
                        <a:defRPr/>
                      </a:pPr>
                      <a:r>
                        <a:rPr lang="en-IN" sz="2000" dirty="0">
                          <a:hlinkClick r:id="rId3"/>
                        </a:rPr>
                        <a:t>Handwritten Digit Recognition Using Convolutional Neural Networks in Python with </a:t>
                      </a:r>
                      <a:r>
                        <a:rPr lang="en-IN" sz="2000" dirty="0" err="1">
                          <a:hlinkClick r:id="rId3"/>
                        </a:rPr>
                        <a:t>Keras</a:t>
                      </a:r>
                      <a:r>
                        <a:rPr lang="en-IN" sz="2000" dirty="0">
                          <a:hlinkClick r:id="rId3"/>
                        </a:rPr>
                        <a:t> - MachineLearningMastery.com</a:t>
                      </a:r>
                      <a:endParaRPr lang="en-US" sz="2000" dirty="0"/>
                    </a:p>
                  </a:txBody>
                  <a:tcPr marL="76200" marR="76200" marT="76200" marB="76200" anchor="ctr">
                    <a:lnL w="0" cap="flat" cmpd="sng" algn="ctr">
                      <a:solidFill>
                        <a:srgbClr val="141E32"/>
                      </a:solidFill>
                      <a:prstDash val="solid"/>
                      <a:round/>
                      <a:headEnd type="none" w="med" len="med"/>
                      <a:tailEnd type="none" w="med" len="med"/>
                    </a:lnL>
                    <a:lnR w="0" cap="flat" cmpd="sng" algn="ctr">
                      <a:solidFill>
                        <a:srgbClr val="141E32"/>
                      </a:solidFill>
                      <a:prstDash val="solid"/>
                      <a:round/>
                      <a:headEnd type="none" w="med" len="med"/>
                      <a:tailEnd type="none" w="med" len="med"/>
                    </a:lnR>
                    <a:lnT w="0" cap="flat" cmpd="sng" algn="ctr">
                      <a:solidFill>
                        <a:srgbClr val="141E32"/>
                      </a:solidFill>
                      <a:prstDash val="solid"/>
                      <a:round/>
                      <a:headEnd type="none" w="med" len="med"/>
                      <a:tailEnd type="none" w="med" len="med"/>
                    </a:lnT>
                    <a:lnB w="0" cap="flat" cmpd="sng" algn="ctr">
                      <a:solidFill>
                        <a:srgbClr val="141E32"/>
                      </a:solidFill>
                      <a:prstDash val="solid"/>
                      <a:round/>
                      <a:headEnd type="none" w="med" len="med"/>
                      <a:tailEnd type="none" w="med" len="med"/>
                    </a:lnB>
                  </a:tcPr>
                </a:tc>
                <a:extLst>
                  <a:ext uri="{0D108BD9-81ED-4DB2-BD59-A6C34878D82A}">
                    <a16:rowId xmlns:a16="http://schemas.microsoft.com/office/drawing/2014/main" val="10001"/>
                  </a:ext>
                </a:extLst>
              </a:tr>
              <a:tr h="1667618">
                <a:tc>
                  <a:txBody>
                    <a:bodyPr/>
                    <a:lstStyle/>
                    <a:p>
                      <a:pPr algn="l">
                        <a:lnSpc>
                          <a:spcPts val="3079"/>
                        </a:lnSpc>
                        <a:defRPr/>
                      </a:pPr>
                      <a:r>
                        <a:rPr lang="en-US" sz="3200" b="1" dirty="0">
                          <a:solidFill>
                            <a:srgbClr val="002060"/>
                          </a:solidFill>
                          <a:latin typeface="Helios Bold"/>
                          <a:ea typeface="Helios Bold"/>
                          <a:cs typeface="Helios Bold"/>
                          <a:sym typeface="Helios Bold"/>
                        </a:rPr>
                        <a:t>3</a:t>
                      </a:r>
                      <a:endParaRPr lang="en-US" sz="3200" dirty="0">
                        <a:solidFill>
                          <a:srgbClr val="002060"/>
                        </a:solidFill>
                      </a:endParaRPr>
                    </a:p>
                  </a:txBody>
                  <a:tcPr marL="76200" marR="76200" marT="76200" marB="76200" anchor="ctr">
                    <a:lnL w="0" cap="flat" cmpd="sng" algn="ctr">
                      <a:solidFill>
                        <a:srgbClr val="141E32"/>
                      </a:solidFill>
                      <a:prstDash val="solid"/>
                      <a:round/>
                      <a:headEnd type="none" w="med" len="med"/>
                      <a:tailEnd type="none" w="med" len="med"/>
                    </a:lnL>
                    <a:lnR w="0" cap="flat" cmpd="sng" algn="ctr">
                      <a:solidFill>
                        <a:srgbClr val="141E32"/>
                      </a:solidFill>
                      <a:prstDash val="solid"/>
                      <a:round/>
                      <a:headEnd type="none" w="med" len="med"/>
                      <a:tailEnd type="none" w="med" len="med"/>
                    </a:lnR>
                    <a:lnT w="0" cap="flat" cmpd="sng" algn="ctr">
                      <a:solidFill>
                        <a:srgbClr val="141E32"/>
                      </a:solidFill>
                      <a:prstDash val="solid"/>
                      <a:round/>
                      <a:headEnd type="none" w="med" len="med"/>
                      <a:tailEnd type="none" w="med" len="med"/>
                    </a:lnT>
                    <a:lnB w="0" cap="flat" cmpd="sng" algn="ctr">
                      <a:solidFill>
                        <a:srgbClr val="141E32"/>
                      </a:solidFill>
                      <a:prstDash val="solid"/>
                      <a:round/>
                      <a:headEnd type="none" w="med" len="med"/>
                      <a:tailEnd type="none" w="med" len="med"/>
                    </a:lnB>
                  </a:tcPr>
                </a:tc>
                <a:tc>
                  <a:txBody>
                    <a:bodyPr/>
                    <a:lstStyle/>
                    <a:p>
                      <a:pPr algn="l">
                        <a:lnSpc>
                          <a:spcPts val="2799"/>
                        </a:lnSpc>
                        <a:defRPr/>
                      </a:pPr>
                      <a:r>
                        <a:rPr lang="en-IN" sz="2000" dirty="0">
                          <a:hlinkClick r:id="rId4"/>
                        </a:rPr>
                        <a:t>Handwritten Digit Recognition using Neural Network - </a:t>
                      </a:r>
                      <a:r>
                        <a:rPr lang="en-IN" sz="2000" dirty="0" err="1">
                          <a:hlinkClick r:id="rId4"/>
                        </a:rPr>
                        <a:t>GeeksforGeeks</a:t>
                      </a:r>
                      <a:endParaRPr lang="en-US" sz="2000" dirty="0"/>
                    </a:p>
                  </a:txBody>
                  <a:tcPr marL="76200" marR="76200" marT="76200" marB="76200" anchor="ctr">
                    <a:lnL w="0" cap="flat" cmpd="sng" algn="ctr">
                      <a:solidFill>
                        <a:srgbClr val="141E32"/>
                      </a:solidFill>
                      <a:prstDash val="solid"/>
                      <a:round/>
                      <a:headEnd type="none" w="med" len="med"/>
                      <a:tailEnd type="none" w="med" len="med"/>
                    </a:lnL>
                    <a:lnR w="0" cap="flat" cmpd="sng" algn="ctr">
                      <a:solidFill>
                        <a:srgbClr val="141E32"/>
                      </a:solidFill>
                      <a:prstDash val="solid"/>
                      <a:round/>
                      <a:headEnd type="none" w="med" len="med"/>
                      <a:tailEnd type="none" w="med" len="med"/>
                    </a:lnR>
                    <a:lnT w="0" cap="flat" cmpd="sng" algn="ctr">
                      <a:solidFill>
                        <a:srgbClr val="141E32"/>
                      </a:solidFill>
                      <a:prstDash val="solid"/>
                      <a:round/>
                      <a:headEnd type="none" w="med" len="med"/>
                      <a:tailEnd type="none" w="med" len="med"/>
                    </a:lnT>
                    <a:lnB w="0" cap="flat" cmpd="sng" algn="ctr">
                      <a:solidFill>
                        <a:srgbClr val="141E32"/>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8" name="TextBox 8"/>
          <p:cNvSpPr txBox="1"/>
          <p:nvPr/>
        </p:nvSpPr>
        <p:spPr>
          <a:xfrm>
            <a:off x="5181600" y="1462858"/>
            <a:ext cx="6690932" cy="1087157"/>
          </a:xfrm>
          <a:prstGeom prst="rect">
            <a:avLst/>
          </a:prstGeom>
        </p:spPr>
        <p:txBody>
          <a:bodyPr wrap="square" lIns="0" tIns="0" rIns="0" bIns="0" rtlCol="0" anchor="t">
            <a:spAutoFit/>
          </a:bodyPr>
          <a:lstStyle/>
          <a:p>
            <a:pPr algn="ctr">
              <a:lnSpc>
                <a:spcPts val="9099"/>
              </a:lnSpc>
            </a:pPr>
            <a:r>
              <a:rPr lang="en-US" sz="6999" b="1" dirty="0">
                <a:solidFill>
                  <a:srgbClr val="2A2E3A"/>
                </a:solidFill>
                <a:latin typeface="Maiandra GD" panose="020E0502030308020204" pitchFamily="34" charset="0"/>
                <a:ea typeface="Klein Bold"/>
                <a:cs typeface="Klein Bold"/>
                <a:sym typeface="Klein Bold"/>
              </a:rPr>
              <a:t>References:</a:t>
            </a:r>
            <a:endParaRPr lang="en-US" sz="6999" b="1" dirty="0">
              <a:solidFill>
                <a:srgbClr val="718BAB"/>
              </a:solidFill>
              <a:latin typeface="Maiandra GD" panose="020E0502030308020204" pitchFamily="34" charset="0"/>
              <a:ea typeface="Klein Bold"/>
              <a:cs typeface="Klein Bold"/>
              <a:sym typeface="Klein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482</TotalTime>
  <Words>1292</Words>
  <Application>Microsoft Office PowerPoint</Application>
  <PresentationFormat>Custom</PresentationFormat>
  <Paragraphs>83</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Calibri</vt:lpstr>
      <vt:lpstr>Maiandra GD</vt:lpstr>
      <vt:lpstr>Helios</vt:lpstr>
      <vt:lpstr>Klein Bold</vt:lpstr>
      <vt:lpstr>Helios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Kiran Kumar Derangula</dc:creator>
  <cp:lastModifiedBy>DERANGULA VENKATA KIRAN KUMAR-[CB.SC.U4AIE23122]</cp:lastModifiedBy>
  <cp:revision>7</cp:revision>
  <dcterms:created xsi:type="dcterms:W3CDTF">2006-08-16T00:00:00Z</dcterms:created>
  <dcterms:modified xsi:type="dcterms:W3CDTF">2026-06-19T17:48:35Z</dcterms:modified>
  <dc:identifier>DAGWcEdK4Uo</dc:identifier>
</cp:coreProperties>
</file>