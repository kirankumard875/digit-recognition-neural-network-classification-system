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56800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0984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657040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B3473D-9A0E-4FD1-9A5E-5A7010B608AD}"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99705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B3473D-9A0E-4FD1-9A5E-5A7010B608AD}"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3836878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070189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129053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287848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B3473D-9A0E-4FD1-9A5E-5A7010B608AD}"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361243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B3473D-9A0E-4FD1-9A5E-5A7010B608AD}"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425273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3167064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13762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510786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1256772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3235218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42699634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B3473D-9A0E-4FD1-9A5E-5A7010B608AD}"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BC9417-DB4A-4203-9C67-FBD306EBE2CC}" type="slidenum">
              <a:rPr lang="en-IN" smtClean="0"/>
              <a:t>‹#›</a:t>
            </a:fld>
            <a:endParaRPr lang="en-IN"/>
          </a:p>
        </p:txBody>
      </p:sp>
    </p:spTree>
    <p:extLst>
      <p:ext uri="{BB962C8B-B14F-4D97-AF65-F5344CB8AC3E}">
        <p14:creationId xmlns:p14="http://schemas.microsoft.com/office/powerpoint/2010/main" val="2597433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B3473D-9A0E-4FD1-9A5E-5A7010B608AD}" type="datetimeFigureOut">
              <a:rPr lang="en-IN" smtClean="0"/>
              <a:t>19-06-2026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ABC9417-DB4A-4203-9C67-FBD306EBE2CC}" type="slidenum">
              <a:rPr lang="en-IN" smtClean="0"/>
              <a:t>‹#›</a:t>
            </a:fld>
            <a:endParaRPr lang="en-IN"/>
          </a:p>
        </p:txBody>
      </p:sp>
    </p:spTree>
    <p:extLst>
      <p:ext uri="{BB962C8B-B14F-4D97-AF65-F5344CB8AC3E}">
        <p14:creationId xmlns:p14="http://schemas.microsoft.com/office/powerpoint/2010/main" val="9601866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6A86767-36FA-3BC3-1294-DDF7BE4E976A}"/>
              </a:ext>
            </a:extLst>
          </p:cNvPr>
          <p:cNvSpPr txBox="1"/>
          <p:nvPr/>
        </p:nvSpPr>
        <p:spPr>
          <a:xfrm>
            <a:off x="2133598" y="2065869"/>
            <a:ext cx="7467603" cy="1938992"/>
          </a:xfrm>
          <a:prstGeom prst="rect">
            <a:avLst/>
          </a:prstGeom>
          <a:noFill/>
        </p:spPr>
        <p:txBody>
          <a:bodyPr wrap="square">
            <a:spAutoFit/>
          </a:bodyPr>
          <a:lstStyle/>
          <a:p>
            <a:pPr algn="ctr"/>
            <a:r>
              <a:rPr lang="en-IN" sz="4000" dirty="0">
                <a:latin typeface="Algerian" panose="04020705040A02060702" pitchFamily="82" charset="0"/>
              </a:rPr>
              <a:t>Handwritten Digit Recognition using Neural Network</a:t>
            </a:r>
          </a:p>
        </p:txBody>
      </p:sp>
    </p:spTree>
    <p:extLst>
      <p:ext uri="{BB962C8B-B14F-4D97-AF65-F5344CB8AC3E}">
        <p14:creationId xmlns:p14="http://schemas.microsoft.com/office/powerpoint/2010/main" val="27195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7C8830B-0A9C-DE9E-22D9-A3481874AB71}"/>
              </a:ext>
            </a:extLst>
          </p:cNvPr>
          <p:cNvSpPr txBox="1"/>
          <p:nvPr/>
        </p:nvSpPr>
        <p:spPr>
          <a:xfrm>
            <a:off x="1261533" y="1650706"/>
            <a:ext cx="8356599" cy="3416320"/>
          </a:xfrm>
          <a:prstGeom prst="rect">
            <a:avLst/>
          </a:prstGeom>
          <a:noFill/>
        </p:spPr>
        <p:txBody>
          <a:bodyPr wrap="square">
            <a:spAutoFit/>
          </a:bodyPr>
          <a:lstStyle/>
          <a:p>
            <a:r>
              <a:rPr lang="en-US" sz="2400" dirty="0">
                <a:latin typeface="STXinwei" panose="02010800040101010101" pitchFamily="2" charset="-122"/>
                <a:ea typeface="STXinwei" panose="02010800040101010101" pitchFamily="2" charset="-122"/>
                <a:cs typeface="Arial" panose="020B0604020202020204" pitchFamily="34" charset="0"/>
              </a:rPr>
              <a:t>Handwritten digit recognition using MNIST dataset is a major project made with the help of Neural Network. It basically detects the scanned images of handwritten digits.</a:t>
            </a:r>
          </a:p>
          <a:p>
            <a:r>
              <a:rPr lang="en-US" sz="2400" dirty="0">
                <a:latin typeface="STXinwei" panose="02010800040101010101" pitchFamily="2" charset="-122"/>
                <a:ea typeface="STXinwei" panose="02010800040101010101" pitchFamily="2" charset="-122"/>
                <a:cs typeface="Arial" panose="020B0604020202020204" pitchFamily="34" charset="0"/>
              </a:rPr>
              <a:t> </a:t>
            </a:r>
          </a:p>
          <a:p>
            <a:endParaRPr lang="en-US" sz="2400" dirty="0">
              <a:latin typeface="STXinwei" panose="02010800040101010101" pitchFamily="2" charset="-122"/>
              <a:ea typeface="STXinwei" panose="02010800040101010101" pitchFamily="2" charset="-122"/>
              <a:cs typeface="Arial" panose="020B0604020202020204" pitchFamily="34" charset="0"/>
            </a:endParaRPr>
          </a:p>
          <a:p>
            <a:r>
              <a:rPr lang="en-US" sz="2400" dirty="0">
                <a:latin typeface="STXinwei" panose="02010800040101010101" pitchFamily="2" charset="-122"/>
                <a:ea typeface="STXinwei" panose="02010800040101010101" pitchFamily="2" charset="-122"/>
                <a:cs typeface="Arial" panose="020B0604020202020204" pitchFamily="34" charset="0"/>
              </a:rPr>
              <a:t>We have taken this a step further where our handwritten digit recognition system not only detects scanned images of handwritten digits but also allows writing digits on the screen with the help of an integrated GUI for recognition. </a:t>
            </a:r>
            <a:endParaRPr lang="en-IN" sz="2400" dirty="0">
              <a:latin typeface="STXinwei" panose="02010800040101010101" pitchFamily="2" charset="-122"/>
              <a:ea typeface="STXinwei" panose="0201080004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8DDA6741-A744-2346-C6B7-B99FC13B760C}"/>
              </a:ext>
            </a:extLst>
          </p:cNvPr>
          <p:cNvSpPr txBox="1"/>
          <p:nvPr/>
        </p:nvSpPr>
        <p:spPr>
          <a:xfrm>
            <a:off x="516466" y="440267"/>
            <a:ext cx="5113866" cy="646331"/>
          </a:xfrm>
          <a:prstGeom prst="rect">
            <a:avLst/>
          </a:prstGeom>
          <a:noFill/>
        </p:spPr>
        <p:txBody>
          <a:bodyPr wrap="square" rtlCol="0">
            <a:spAutoFit/>
          </a:bodyPr>
          <a:lstStyle/>
          <a:p>
            <a:r>
              <a:rPr lang="en-US" sz="3600" dirty="0">
                <a:latin typeface="Algerian" panose="04020705040A02060702" pitchFamily="82" charset="0"/>
              </a:rPr>
              <a:t>Problem definition:</a:t>
            </a:r>
            <a:endParaRPr lang="en-IN" sz="3600" dirty="0">
              <a:latin typeface="Algerian" panose="04020705040A02060702" pitchFamily="82" charset="0"/>
            </a:endParaRPr>
          </a:p>
        </p:txBody>
      </p:sp>
    </p:spTree>
    <p:extLst>
      <p:ext uri="{BB962C8B-B14F-4D97-AF65-F5344CB8AC3E}">
        <p14:creationId xmlns:p14="http://schemas.microsoft.com/office/powerpoint/2010/main" val="73585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63004C-A8D4-A63A-59A6-C2BCBD253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4042" y="1131887"/>
            <a:ext cx="4407958" cy="4407958"/>
          </a:xfrm>
          <a:prstGeom prst="rect">
            <a:avLst/>
          </a:prstGeom>
        </p:spPr>
      </p:pic>
      <p:sp>
        <p:nvSpPr>
          <p:cNvPr id="6" name="TextBox 5">
            <a:extLst>
              <a:ext uri="{FF2B5EF4-FFF2-40B4-BE49-F238E27FC236}">
                <a16:creationId xmlns:a16="http://schemas.microsoft.com/office/drawing/2014/main" id="{02715D79-E189-A1FF-0621-6493DE9D2C80}"/>
              </a:ext>
            </a:extLst>
          </p:cNvPr>
          <p:cNvSpPr txBox="1"/>
          <p:nvPr/>
        </p:nvSpPr>
        <p:spPr>
          <a:xfrm>
            <a:off x="859366" y="1278465"/>
            <a:ext cx="6460067" cy="4524315"/>
          </a:xfrm>
          <a:prstGeom prst="rect">
            <a:avLst/>
          </a:prstGeom>
          <a:noFill/>
        </p:spPr>
        <p:txBody>
          <a:bodyPr wrap="square" rtlCol="0">
            <a:spAutoFit/>
          </a:bodyPr>
          <a:lstStyle/>
          <a:p>
            <a:r>
              <a:rPr lang="en-US" sz="2400" dirty="0">
                <a:latin typeface="STXinwei" panose="02010800040101010101" pitchFamily="2" charset="-122"/>
                <a:ea typeface="STXinwei" panose="02010800040101010101" pitchFamily="2" charset="-122"/>
              </a:rPr>
              <a:t>The approach begins with data collection and preprocessing, using the MNIST dataset, a benchmark dataset comprising 60,000 training images and 10,000 test images of handwritten digits, each 28x28 pixels in size. </a:t>
            </a:r>
          </a:p>
          <a:p>
            <a:endParaRPr lang="en-US" sz="2400" dirty="0">
              <a:latin typeface="STXinwei" panose="02010800040101010101" pitchFamily="2" charset="-122"/>
              <a:ea typeface="STXinwei" panose="02010800040101010101" pitchFamily="2" charset="-122"/>
            </a:endParaRPr>
          </a:p>
          <a:p>
            <a:r>
              <a:rPr lang="en-US" sz="2400" dirty="0">
                <a:latin typeface="STXinwei" panose="02010800040101010101" pitchFamily="2" charset="-122"/>
                <a:ea typeface="STXinwei" panose="02010800040101010101" pitchFamily="2" charset="-122"/>
              </a:rPr>
              <a:t>Preprocessing involves normalizing pixel values to the range [0, 1] to facilitate faster convergence during training. The model design focuses on selecting and constructing a CNN due to its proven effectiveness in image-related tasks. </a:t>
            </a:r>
            <a:endParaRPr lang="en-IN" sz="2400" dirty="0">
              <a:latin typeface="STXinwei" panose="02010800040101010101" pitchFamily="2" charset="-122"/>
              <a:ea typeface="STXinwei" panose="02010800040101010101" pitchFamily="2" charset="-122"/>
            </a:endParaRPr>
          </a:p>
        </p:txBody>
      </p:sp>
      <p:sp>
        <p:nvSpPr>
          <p:cNvPr id="7" name="TextBox 6">
            <a:extLst>
              <a:ext uri="{FF2B5EF4-FFF2-40B4-BE49-F238E27FC236}">
                <a16:creationId xmlns:a16="http://schemas.microsoft.com/office/drawing/2014/main" id="{CCB1379E-9262-AA72-FE77-D0C2CF6AAE1A}"/>
              </a:ext>
            </a:extLst>
          </p:cNvPr>
          <p:cNvSpPr txBox="1"/>
          <p:nvPr/>
        </p:nvSpPr>
        <p:spPr>
          <a:xfrm>
            <a:off x="677333" y="389467"/>
            <a:ext cx="3412067" cy="584775"/>
          </a:xfrm>
          <a:prstGeom prst="rect">
            <a:avLst/>
          </a:prstGeom>
          <a:noFill/>
        </p:spPr>
        <p:txBody>
          <a:bodyPr wrap="square" rtlCol="0">
            <a:spAutoFit/>
          </a:bodyPr>
          <a:lstStyle/>
          <a:p>
            <a:r>
              <a:rPr lang="en-US" sz="3200" dirty="0">
                <a:latin typeface="Algerian" panose="04020705040A02060702" pitchFamily="82" charset="0"/>
              </a:rPr>
              <a:t>Approach:</a:t>
            </a:r>
            <a:endParaRPr lang="en-IN" sz="3200" dirty="0">
              <a:latin typeface="Algerian" panose="04020705040A02060702" pitchFamily="82" charset="0"/>
            </a:endParaRPr>
          </a:p>
        </p:txBody>
      </p:sp>
    </p:spTree>
    <p:extLst>
      <p:ext uri="{BB962C8B-B14F-4D97-AF65-F5344CB8AC3E}">
        <p14:creationId xmlns:p14="http://schemas.microsoft.com/office/powerpoint/2010/main" val="80805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6C777D-B13F-4041-3E8C-766B54D374BD}"/>
              </a:ext>
            </a:extLst>
          </p:cNvPr>
          <p:cNvSpPr txBox="1"/>
          <p:nvPr/>
        </p:nvSpPr>
        <p:spPr>
          <a:xfrm>
            <a:off x="711200" y="711200"/>
            <a:ext cx="2997200" cy="584775"/>
          </a:xfrm>
          <a:prstGeom prst="rect">
            <a:avLst/>
          </a:prstGeom>
          <a:noFill/>
        </p:spPr>
        <p:txBody>
          <a:bodyPr wrap="square" rtlCol="0">
            <a:spAutoFit/>
          </a:bodyPr>
          <a:lstStyle/>
          <a:p>
            <a:r>
              <a:rPr lang="en-US" sz="3200" dirty="0">
                <a:latin typeface="Algerian" panose="04020705040A02060702" pitchFamily="82" charset="0"/>
              </a:rPr>
              <a:t>Objectives:</a:t>
            </a:r>
            <a:endParaRPr lang="en-IN" sz="3200" dirty="0">
              <a:latin typeface="Algerian" panose="04020705040A02060702" pitchFamily="82" charset="0"/>
            </a:endParaRPr>
          </a:p>
        </p:txBody>
      </p:sp>
      <p:sp>
        <p:nvSpPr>
          <p:cNvPr id="6" name="TextBox 5">
            <a:extLst>
              <a:ext uri="{FF2B5EF4-FFF2-40B4-BE49-F238E27FC236}">
                <a16:creationId xmlns:a16="http://schemas.microsoft.com/office/drawing/2014/main" id="{E57318B8-46DB-D640-C218-95D0560498DB}"/>
              </a:ext>
            </a:extLst>
          </p:cNvPr>
          <p:cNvSpPr txBox="1"/>
          <p:nvPr/>
        </p:nvSpPr>
        <p:spPr>
          <a:xfrm>
            <a:off x="1676399" y="1964773"/>
            <a:ext cx="8398934" cy="3046988"/>
          </a:xfrm>
          <a:prstGeom prst="rect">
            <a:avLst/>
          </a:prstGeom>
          <a:noFill/>
        </p:spPr>
        <p:txBody>
          <a:bodyPr wrap="square">
            <a:spAutoFit/>
          </a:bodyPr>
          <a:lstStyle/>
          <a:p>
            <a:r>
              <a:rPr lang="en-IN" sz="2400" dirty="0">
                <a:latin typeface="STXinwei" panose="02010800040101010101" pitchFamily="2" charset="-122"/>
                <a:ea typeface="STXinwei" panose="02010800040101010101" pitchFamily="2" charset="-122"/>
              </a:rPr>
              <a:t>To successfully implement neural networks and SVM to make a digit recognizer with high accuracy. The idea is to take a large number of handwritten digits, known as training examples, and then develop a system which can learn from those training examples. </a:t>
            </a:r>
          </a:p>
          <a:p>
            <a:endParaRPr lang="en-IN" sz="2400" dirty="0">
              <a:latin typeface="STXinwei" panose="02010800040101010101" pitchFamily="2" charset="-122"/>
              <a:ea typeface="STXinwei" panose="02010800040101010101" pitchFamily="2" charset="-122"/>
            </a:endParaRPr>
          </a:p>
          <a:p>
            <a:r>
              <a:rPr lang="en-IN" sz="2400" dirty="0">
                <a:latin typeface="STXinwei" panose="02010800040101010101" pitchFamily="2" charset="-122"/>
                <a:ea typeface="STXinwei" panose="02010800040101010101" pitchFamily="2" charset="-122"/>
              </a:rPr>
              <a:t>In other words, the neural network uses the examples to automatically infer rules for recognizing handwritten digits.</a:t>
            </a:r>
          </a:p>
        </p:txBody>
      </p:sp>
    </p:spTree>
    <p:extLst>
      <p:ext uri="{BB962C8B-B14F-4D97-AF65-F5344CB8AC3E}">
        <p14:creationId xmlns:p14="http://schemas.microsoft.com/office/powerpoint/2010/main" val="110081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68EF1A-31DA-4D49-214C-8C33706B87C5}"/>
              </a:ext>
            </a:extLst>
          </p:cNvPr>
          <p:cNvSpPr txBox="1"/>
          <p:nvPr/>
        </p:nvSpPr>
        <p:spPr>
          <a:xfrm>
            <a:off x="1397000" y="1806139"/>
            <a:ext cx="9008534" cy="3046988"/>
          </a:xfrm>
          <a:prstGeom prst="rect">
            <a:avLst/>
          </a:prstGeom>
          <a:noFill/>
        </p:spPr>
        <p:txBody>
          <a:bodyPr wrap="square">
            <a:spAutoFit/>
          </a:bodyPr>
          <a:lstStyle/>
          <a:p>
            <a:r>
              <a:rPr lang="en-US" sz="2400" dirty="0">
                <a:latin typeface="STXinwei" panose="02010800040101010101" pitchFamily="2" charset="-122"/>
                <a:ea typeface="STXinwei" panose="02010800040101010101" pitchFamily="2" charset="-122"/>
              </a:rPr>
              <a:t>In conclusion, handwritten digit recognition using neural networks is a well-established problem with numerous practical applications. Leveraging CNNs enables high accuracy and robust performance. </a:t>
            </a:r>
          </a:p>
          <a:p>
            <a:endParaRPr lang="en-US" sz="2400" dirty="0">
              <a:latin typeface="STXinwei" panose="02010800040101010101" pitchFamily="2" charset="-122"/>
              <a:ea typeface="STXinwei" panose="02010800040101010101" pitchFamily="2" charset="-122"/>
            </a:endParaRPr>
          </a:p>
          <a:p>
            <a:r>
              <a:rPr lang="en-US" sz="2400" dirty="0">
                <a:latin typeface="STXinwei" panose="02010800040101010101" pitchFamily="2" charset="-122"/>
                <a:ea typeface="STXinwei" panose="02010800040101010101" pitchFamily="2" charset="-122"/>
              </a:rPr>
              <a:t>This project outlines the steps to design, train, and deploy a neural network model for handwritten digit recognition, emphasizing the importance of model evaluation and improvement to ensure real-world applicability.</a:t>
            </a:r>
            <a:endParaRPr lang="en-IN" sz="2400" dirty="0">
              <a:latin typeface="STXinwei" panose="02010800040101010101" pitchFamily="2" charset="-122"/>
              <a:ea typeface="STXinwei" panose="02010800040101010101" pitchFamily="2" charset="-122"/>
            </a:endParaRPr>
          </a:p>
        </p:txBody>
      </p:sp>
      <p:sp>
        <p:nvSpPr>
          <p:cNvPr id="6" name="TextBox 5">
            <a:extLst>
              <a:ext uri="{FF2B5EF4-FFF2-40B4-BE49-F238E27FC236}">
                <a16:creationId xmlns:a16="http://schemas.microsoft.com/office/drawing/2014/main" id="{6430A39F-9C8A-AAD5-56D9-F0B423989C49}"/>
              </a:ext>
            </a:extLst>
          </p:cNvPr>
          <p:cNvSpPr txBox="1"/>
          <p:nvPr/>
        </p:nvSpPr>
        <p:spPr>
          <a:xfrm>
            <a:off x="508000" y="524933"/>
            <a:ext cx="4284133" cy="646331"/>
          </a:xfrm>
          <a:prstGeom prst="rect">
            <a:avLst/>
          </a:prstGeom>
          <a:noFill/>
        </p:spPr>
        <p:txBody>
          <a:bodyPr wrap="square" rtlCol="0">
            <a:spAutoFit/>
          </a:bodyPr>
          <a:lstStyle/>
          <a:p>
            <a:r>
              <a:rPr lang="en-US" sz="3600" dirty="0">
                <a:latin typeface="Algerian" panose="04020705040A02060702" pitchFamily="82" charset="0"/>
              </a:rPr>
              <a:t>Conclusion:</a:t>
            </a:r>
            <a:endParaRPr lang="en-IN" sz="3600" dirty="0">
              <a:latin typeface="Algerian" panose="04020705040A02060702" pitchFamily="82" charset="0"/>
            </a:endParaRPr>
          </a:p>
        </p:txBody>
      </p:sp>
    </p:spTree>
    <p:extLst>
      <p:ext uri="{BB962C8B-B14F-4D97-AF65-F5344CB8AC3E}">
        <p14:creationId xmlns:p14="http://schemas.microsoft.com/office/powerpoint/2010/main" val="32366138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49</TotalTime>
  <Words>283</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STXinwei</vt:lpstr>
      <vt:lpstr>Algerian</vt:lpstr>
      <vt:lpstr>Century Gothic</vt:lpstr>
      <vt:lpstr>Wingdings 3</vt:lpstr>
      <vt:lpstr>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 kumar</dc:creator>
  <cp:lastModifiedBy>DERANGULA VENKATA KIRAN KUMAR-[CB.SC.U4AIE23122]</cp:lastModifiedBy>
  <cp:revision>2</cp:revision>
  <dcterms:created xsi:type="dcterms:W3CDTF">2024-07-27T03:29:20Z</dcterms:created>
  <dcterms:modified xsi:type="dcterms:W3CDTF">2026-06-19T17:49:03Z</dcterms:modified>
</cp:coreProperties>
</file>