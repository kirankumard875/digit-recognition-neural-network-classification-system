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1" r:id="rId3"/>
    <p:sldId id="257" r:id="rId4"/>
    <p:sldId id="259" r:id="rId5"/>
    <p:sldId id="260" r:id="rId6"/>
    <p:sldId id="264" r:id="rId7"/>
    <p:sldId id="263" r:id="rId8"/>
    <p:sldId id="265"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430790-5E17-0B4B-56D0-6EA0F2935045}" v="575" dt="2024-09-18T15:35:57.4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93" d="100"/>
          <a:sy n="93" d="100"/>
        </p:scale>
        <p:origin x="77"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06/19/26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257369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06/19/26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22399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dirty="0"/>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06/19/26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57183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06/19/26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002518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06/19/26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913000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06/19/26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592207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06/19/26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907882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06/19/26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266197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5063319" y="657103"/>
            <a:ext cx="6483687" cy="555590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06/19/26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806768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06/19/26</a:t>
            </a:fld>
            <a:endParaRPr lang="en-US" dirty="0"/>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778598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06/19/26</a:t>
            </a:fld>
            <a:endParaRPr lang="en-US" dirty="0"/>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123487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FigureOut">
              <a:rPr lang="en-US" dirty="0"/>
              <a:t>06/19/26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dirty="0"/>
          </a:p>
        </p:txBody>
      </p:sp>
    </p:spTree>
    <p:extLst>
      <p:ext uri="{BB962C8B-B14F-4D97-AF65-F5344CB8AC3E}">
        <p14:creationId xmlns:p14="http://schemas.microsoft.com/office/powerpoint/2010/main" val="346683362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2CDAFE-66BE-DD7A-14BA-E88806654CD9}"/>
              </a:ext>
            </a:extLst>
          </p:cNvPr>
          <p:cNvSpPr txBox="1"/>
          <p:nvPr/>
        </p:nvSpPr>
        <p:spPr>
          <a:xfrm>
            <a:off x="806824" y="2528047"/>
            <a:ext cx="9816352"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IN" sz="4000" b="1" dirty="0">
                <a:solidFill>
                  <a:srgbClr val="FF0000"/>
                </a:solidFill>
                <a:latin typeface="Arial Rounded MT Bold"/>
                <a:cs typeface="Aldhabi"/>
              </a:rPr>
              <a:t>Handwritten Digit Recognition </a:t>
            </a:r>
            <a:endParaRPr lang="en-US" b="1">
              <a:solidFill>
                <a:srgbClr val="FF0000"/>
              </a:solidFill>
              <a:latin typeface="Arial Rounded MT Bold"/>
              <a:cs typeface="Aldhabi"/>
            </a:endParaRPr>
          </a:p>
          <a:p>
            <a:pPr algn="ctr"/>
            <a:r>
              <a:rPr lang="en-IN" sz="4000" b="1" dirty="0">
                <a:solidFill>
                  <a:srgbClr val="FF0000"/>
                </a:solidFill>
                <a:latin typeface="Arial Rounded MT Bold"/>
                <a:cs typeface="Aldhabi"/>
              </a:rPr>
              <a:t>using Neural Network</a:t>
            </a:r>
            <a:r>
              <a:rPr lang="en-US" sz="4000" b="1" dirty="0">
                <a:solidFill>
                  <a:srgbClr val="FF0000"/>
                </a:solidFill>
                <a:latin typeface="Arial Rounded MT Bold"/>
                <a:cs typeface="Aldhabi"/>
              </a:rPr>
              <a:t>​</a:t>
            </a:r>
            <a:endParaRPr lang="en-US" b="1">
              <a:solidFill>
                <a:srgbClr val="FF0000"/>
              </a:solidFill>
              <a:latin typeface="Arial Rounded MT Bold"/>
              <a:cs typeface="Aldhabi"/>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F601C7-93DC-2A8D-A6AC-72E8204C75B7}"/>
              </a:ext>
            </a:extLst>
          </p:cNvPr>
          <p:cNvSpPr txBox="1"/>
          <p:nvPr/>
        </p:nvSpPr>
        <p:spPr>
          <a:xfrm>
            <a:off x="696945" y="324667"/>
            <a:ext cx="343009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latin typeface="Georgia Pro Black"/>
              </a:rPr>
              <a:t>Introduction :</a:t>
            </a:r>
          </a:p>
        </p:txBody>
      </p:sp>
      <p:sp>
        <p:nvSpPr>
          <p:cNvPr id="6" name="TextBox 5">
            <a:extLst>
              <a:ext uri="{FF2B5EF4-FFF2-40B4-BE49-F238E27FC236}">
                <a16:creationId xmlns:a16="http://schemas.microsoft.com/office/drawing/2014/main" id="{B3357F22-4858-9678-3F0D-65ACC1E5EBA1}"/>
              </a:ext>
            </a:extLst>
          </p:cNvPr>
          <p:cNvSpPr txBox="1"/>
          <p:nvPr/>
        </p:nvSpPr>
        <p:spPr>
          <a:xfrm>
            <a:off x="806824" y="1264023"/>
            <a:ext cx="9520517"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Ø"/>
            </a:pPr>
            <a:r>
              <a:rPr lang="en-US" sz="2400" dirty="0">
                <a:latin typeface="Sitka Heading"/>
              </a:rPr>
              <a:t>The project focuses on </a:t>
            </a:r>
            <a:r>
              <a:rPr lang="en-US" sz="2400" b="1" dirty="0">
                <a:latin typeface="Sitka Heading"/>
              </a:rPr>
              <a:t>handwritten digit recognition</a:t>
            </a:r>
            <a:r>
              <a:rPr lang="en-US" sz="2400" dirty="0">
                <a:latin typeface="Sitka Heading"/>
              </a:rPr>
              <a:t> using the </a:t>
            </a:r>
            <a:r>
              <a:rPr lang="en-US" sz="2400" b="1" dirty="0">
                <a:latin typeface="Sitka Heading"/>
              </a:rPr>
              <a:t>MNIST dataset</a:t>
            </a:r>
            <a:r>
              <a:rPr lang="en-US" sz="2400" dirty="0">
                <a:latin typeface="Sitka Heading"/>
              </a:rPr>
              <a:t> and a </a:t>
            </a:r>
            <a:r>
              <a:rPr lang="en-US" sz="2400" b="1" dirty="0">
                <a:latin typeface="Sitka Heading"/>
              </a:rPr>
              <a:t>Neural Network</a:t>
            </a:r>
            <a:r>
              <a:rPr lang="en-US" sz="2400" dirty="0">
                <a:latin typeface="Sitka Heading"/>
              </a:rPr>
              <a:t>.</a:t>
            </a:r>
            <a:endParaRPr lang="en-US" sz="2400"/>
          </a:p>
          <a:p>
            <a:endParaRPr lang="en-US" sz="2400" dirty="0">
              <a:latin typeface="Sitka Heading"/>
            </a:endParaRPr>
          </a:p>
          <a:p>
            <a:pPr marL="342900" indent="-342900">
              <a:buFont typeface="Wingdings"/>
              <a:buChar char="Ø"/>
            </a:pPr>
            <a:r>
              <a:rPr lang="en-US" sz="2400" dirty="0">
                <a:latin typeface="Sitka Heading"/>
              </a:rPr>
              <a:t>It has been extended to include a </a:t>
            </a:r>
            <a:r>
              <a:rPr lang="en-US" sz="2400" b="1" dirty="0">
                <a:latin typeface="Sitka Heading"/>
              </a:rPr>
              <a:t>GUI</a:t>
            </a:r>
            <a:r>
              <a:rPr lang="en-US" sz="2400" dirty="0">
                <a:latin typeface="Sitka Heading"/>
              </a:rPr>
              <a:t> where users can </a:t>
            </a:r>
            <a:r>
              <a:rPr lang="en-US" sz="2400" b="1" dirty="0">
                <a:latin typeface="Sitka Heading"/>
              </a:rPr>
              <a:t>write digits on the screen</a:t>
            </a:r>
            <a:r>
              <a:rPr lang="en-US" sz="2400" dirty="0">
                <a:latin typeface="Sitka Heading"/>
              </a:rPr>
              <a:t> for real-time recognition.</a:t>
            </a:r>
          </a:p>
          <a:p>
            <a:endParaRPr lang="en-US" sz="2400" dirty="0">
              <a:latin typeface="Sitka Heading"/>
            </a:endParaRPr>
          </a:p>
          <a:p>
            <a:pPr marL="342900" indent="-342900">
              <a:buFont typeface="Wingdings"/>
              <a:buChar char="Ø"/>
            </a:pPr>
            <a:r>
              <a:rPr lang="en-US" sz="2400" dirty="0">
                <a:latin typeface="Sitka Heading"/>
              </a:rPr>
              <a:t>The GUI allows the system to </a:t>
            </a:r>
            <a:r>
              <a:rPr lang="en-US" sz="2400" b="1" dirty="0">
                <a:latin typeface="Sitka Heading"/>
              </a:rPr>
              <a:t>capture and process</a:t>
            </a:r>
            <a:r>
              <a:rPr lang="en-US" sz="2400" dirty="0">
                <a:latin typeface="Sitka Heading"/>
              </a:rPr>
              <a:t> the handwritten digits for accurate prediction.</a:t>
            </a:r>
          </a:p>
          <a:p>
            <a:endParaRPr lang="en-US" sz="2400" dirty="0">
              <a:latin typeface="Sitka Heading"/>
            </a:endParaRPr>
          </a:p>
          <a:p>
            <a:pPr marL="342900" indent="-342900">
              <a:buFont typeface="Wingdings"/>
              <a:buChar char="Ø"/>
            </a:pPr>
            <a:r>
              <a:rPr lang="en-US" sz="2400" dirty="0">
                <a:latin typeface="Sitka Heading"/>
              </a:rPr>
              <a:t>The system provides </a:t>
            </a:r>
            <a:r>
              <a:rPr lang="en-US" sz="2400" b="1" dirty="0">
                <a:latin typeface="Sitka Heading"/>
              </a:rPr>
              <a:t>instant feedback</a:t>
            </a:r>
            <a:r>
              <a:rPr lang="en-US" sz="2400" dirty="0">
                <a:latin typeface="Sitka Heading"/>
              </a:rPr>
              <a:t> on the recognized digit after the user finishes drawing.</a:t>
            </a:r>
          </a:p>
          <a:p>
            <a:endParaRPr lang="en-US" sz="2400" dirty="0">
              <a:latin typeface="Sitka Heading"/>
            </a:endParaRPr>
          </a:p>
          <a:p>
            <a:pPr marL="342900" indent="-342900">
              <a:buFont typeface="Wingdings"/>
              <a:buChar char="Ø"/>
            </a:pPr>
            <a:r>
              <a:rPr lang="en-US" sz="2400" dirty="0">
                <a:latin typeface="Sitka Heading"/>
              </a:rPr>
              <a:t>This extension enhances </a:t>
            </a:r>
            <a:r>
              <a:rPr lang="en-US" sz="2400" b="1" dirty="0">
                <a:latin typeface="Sitka Heading"/>
              </a:rPr>
              <a:t>user interaction</a:t>
            </a:r>
            <a:r>
              <a:rPr lang="en-US" sz="2400" dirty="0">
                <a:latin typeface="Sitka Heading"/>
              </a:rPr>
              <a:t> and demonstrates the practical use of neural networks in digit recognition.</a:t>
            </a:r>
          </a:p>
        </p:txBody>
      </p:sp>
    </p:spTree>
    <p:extLst>
      <p:ext uri="{BB962C8B-B14F-4D97-AF65-F5344CB8AC3E}">
        <p14:creationId xmlns:p14="http://schemas.microsoft.com/office/powerpoint/2010/main" val="1599227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5">
            <a:extLst>
              <a:ext uri="{FF2B5EF4-FFF2-40B4-BE49-F238E27FC236}">
                <a16:creationId xmlns:a16="http://schemas.microsoft.com/office/drawing/2014/main" id="{E57318B8-46DB-D640-C218-95D0560498DB}"/>
              </a:ext>
            </a:extLst>
          </p:cNvPr>
          <p:cNvSpPr txBox="1"/>
          <p:nvPr/>
        </p:nvSpPr>
        <p:spPr>
          <a:xfrm>
            <a:off x="1055978" y="1084535"/>
            <a:ext cx="9564345" cy="5262979"/>
          </a:xfrm>
          <a:prstGeom prst="rect">
            <a:avLst/>
          </a:prstGeom>
          <a:noFill/>
        </p:spPr>
        <p:txBody>
          <a:bodyPr wrap="squar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a:buFont typeface="Arial"/>
              <a:buChar char="•"/>
            </a:pPr>
            <a:r>
              <a:rPr lang="en-IN" sz="2400" dirty="0">
                <a:latin typeface="Sitka Heading"/>
                <a:ea typeface="Cambria"/>
              </a:rPr>
              <a:t>To successfully implement neural networks to make a digit recognizer with high accuracy. The idea is to take a large number of handwritten digits, known as training examples, and then develop a system which can learn from those training examples. </a:t>
            </a:r>
          </a:p>
          <a:p>
            <a:pPr marL="342900" indent="-342900">
              <a:buFont typeface="Arial"/>
              <a:buChar char="•"/>
            </a:pPr>
            <a:endParaRPr lang="en-IN" sz="2400" dirty="0">
              <a:latin typeface="Sitka Heading"/>
              <a:ea typeface="Cambria"/>
            </a:endParaRPr>
          </a:p>
          <a:p>
            <a:pPr marL="342900" indent="-342900">
              <a:buFont typeface="Arial"/>
              <a:buChar char="•"/>
            </a:pPr>
            <a:r>
              <a:rPr lang="en-US" sz="2400" dirty="0">
                <a:latin typeface="Sitka Banner" pitchFamily="2" charset="0"/>
              </a:rPr>
              <a:t>A neural network is a model inspired by how the brain works. It consists of multiple layers having many activations, this activation resembles neurons of our brain. A neural network tries to learn a set of parameters in a set of data which could help to recognize the underlying relationships. Neural networks can adapt to changing input; so the network generates the best possible result without needing to redesign the output criteria.</a:t>
            </a:r>
          </a:p>
          <a:p>
            <a:pPr marL="342900" indent="-342900">
              <a:buFont typeface="Arial"/>
              <a:buChar char="•"/>
            </a:pPr>
            <a:endParaRPr lang="en-IN" sz="2400" dirty="0">
              <a:latin typeface="Sitka Heading"/>
              <a:ea typeface="Cambria"/>
            </a:endParaRPr>
          </a:p>
          <a:p>
            <a:pPr marL="342900" indent="-342900">
              <a:buFont typeface="Arial"/>
              <a:buChar char="•"/>
            </a:pPr>
            <a:r>
              <a:rPr lang="en-IN" sz="2400" dirty="0">
                <a:latin typeface="Sitka Heading"/>
                <a:ea typeface="Cambria"/>
              </a:rPr>
              <a:t>In other words, the neural network uses the examples to automatically infer rules for recognizing handwritten digits.</a:t>
            </a:r>
          </a:p>
        </p:txBody>
      </p:sp>
      <p:sp>
        <p:nvSpPr>
          <p:cNvPr id="5" name="TextBox 3">
            <a:extLst>
              <a:ext uri="{FF2B5EF4-FFF2-40B4-BE49-F238E27FC236}">
                <a16:creationId xmlns:a16="http://schemas.microsoft.com/office/drawing/2014/main" id="{DB6C777D-B13F-4041-3E8C-766B54D374BD}"/>
              </a:ext>
            </a:extLst>
          </p:cNvPr>
          <p:cNvSpPr txBox="1"/>
          <p:nvPr/>
        </p:nvSpPr>
        <p:spPr>
          <a:xfrm>
            <a:off x="339286" y="197448"/>
            <a:ext cx="2997200" cy="584775"/>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3200" dirty="0">
                <a:latin typeface="Georgia Pro Black"/>
              </a:rPr>
              <a:t>Objectives:</a:t>
            </a:r>
            <a:endParaRPr lang="en-IN" sz="3200" dirty="0">
              <a:latin typeface="Georgia Pro Black"/>
            </a:endParaRPr>
          </a:p>
        </p:txBody>
      </p:sp>
    </p:spTree>
    <p:extLst>
      <p:ext uri="{BB962C8B-B14F-4D97-AF65-F5344CB8AC3E}">
        <p14:creationId xmlns:p14="http://schemas.microsoft.com/office/powerpoint/2010/main" val="3276034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53F88D-94E1-1BF9-1315-FA4A2B78D8E7}"/>
              </a:ext>
            </a:extLst>
          </p:cNvPr>
          <p:cNvSpPr txBox="1"/>
          <p:nvPr/>
        </p:nvSpPr>
        <p:spPr>
          <a:xfrm>
            <a:off x="959224" y="618565"/>
            <a:ext cx="391757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latin typeface="Georgia Pro Black"/>
              </a:rPr>
              <a:t>Methodology :</a:t>
            </a:r>
          </a:p>
        </p:txBody>
      </p:sp>
      <p:sp>
        <p:nvSpPr>
          <p:cNvPr id="5" name="TextBox 4">
            <a:extLst>
              <a:ext uri="{FF2B5EF4-FFF2-40B4-BE49-F238E27FC236}">
                <a16:creationId xmlns:a16="http://schemas.microsoft.com/office/drawing/2014/main" id="{2012AA8A-3532-6422-7F83-3C569BB1FA0A}"/>
              </a:ext>
            </a:extLst>
          </p:cNvPr>
          <p:cNvSpPr txBox="1"/>
          <p:nvPr/>
        </p:nvSpPr>
        <p:spPr>
          <a:xfrm>
            <a:off x="959223" y="1389530"/>
            <a:ext cx="10408022" cy="47089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Sitka Heading"/>
              </a:rPr>
              <a:t>1. Neural Network Setup:</a:t>
            </a:r>
            <a:endParaRPr lang="en-US" sz="2000" dirty="0">
              <a:latin typeface="Sitka Heading"/>
            </a:endParaRPr>
          </a:p>
          <a:p>
            <a:pPr marL="1257300" lvl="3" indent="-342900">
              <a:buFont typeface="Arial"/>
              <a:buChar char="•"/>
            </a:pPr>
            <a:r>
              <a:rPr lang="en-US" sz="2000" dirty="0">
                <a:latin typeface="Sitka Heading"/>
              </a:rPr>
              <a:t>A neural network with </a:t>
            </a:r>
            <a:r>
              <a:rPr lang="en-US" sz="2000" b="1" dirty="0">
                <a:solidFill>
                  <a:schemeClr val="accent2"/>
                </a:solidFill>
                <a:latin typeface="Sitka Heading"/>
              </a:rPr>
              <a:t>1 hidden layer</a:t>
            </a:r>
            <a:r>
              <a:rPr lang="en-US" sz="2000" dirty="0">
                <a:latin typeface="Sitka Heading"/>
              </a:rPr>
              <a:t> was implemented.</a:t>
            </a:r>
          </a:p>
          <a:p>
            <a:pPr marL="1257300" lvl="3" indent="-342900">
              <a:buFont typeface="Arial"/>
              <a:buChar char="•"/>
            </a:pPr>
            <a:r>
              <a:rPr lang="en-US" sz="2000" dirty="0">
                <a:latin typeface="Sitka Heading"/>
              </a:rPr>
              <a:t>The hidden layer contains </a:t>
            </a:r>
            <a:r>
              <a:rPr lang="en-US" sz="2000" b="1" dirty="0">
                <a:solidFill>
                  <a:schemeClr val="accent2"/>
                </a:solidFill>
                <a:latin typeface="Sitka Heading"/>
              </a:rPr>
              <a:t>100 neurons</a:t>
            </a:r>
            <a:r>
              <a:rPr lang="en-US" sz="2000" dirty="0">
                <a:latin typeface="Sitka Heading"/>
              </a:rPr>
              <a:t>, excluding bias units.</a:t>
            </a:r>
          </a:p>
          <a:p>
            <a:pPr marL="914400" lvl="3"/>
            <a:endParaRPr lang="en-US" sz="2000" dirty="0">
              <a:latin typeface="Sitka Heading"/>
            </a:endParaRPr>
          </a:p>
          <a:p>
            <a:r>
              <a:rPr lang="en-US" sz="2000" b="1" dirty="0">
                <a:latin typeface="Sitka Heading"/>
              </a:rPr>
              <a:t>2. Loading Data:</a:t>
            </a:r>
          </a:p>
          <a:p>
            <a:pPr marL="1143000" lvl="3" indent="-228600">
              <a:buFont typeface="Arial"/>
              <a:buChar char="•"/>
            </a:pPr>
            <a:r>
              <a:rPr lang="en-US" sz="2000" dirty="0">
                <a:latin typeface="Sitka Heading"/>
              </a:rPr>
              <a:t>The data was loaded from a </a:t>
            </a:r>
            <a:r>
              <a:rPr lang="en-US" sz="2000" b="1" dirty="0">
                <a:solidFill>
                  <a:schemeClr val="accent2"/>
                </a:solidFill>
                <a:latin typeface="Sitka Heading"/>
              </a:rPr>
              <a:t>.mat file</a:t>
            </a:r>
            <a:r>
              <a:rPr lang="en-US" sz="2000" dirty="0">
                <a:latin typeface="Sitka Heading"/>
              </a:rPr>
              <a:t>.</a:t>
            </a:r>
          </a:p>
          <a:p>
            <a:pPr marL="1143000" lvl="3" indent="-228600">
              <a:buFont typeface="Arial"/>
              <a:buChar char="•"/>
            </a:pPr>
            <a:r>
              <a:rPr lang="en-US" sz="2000" b="1" dirty="0">
                <a:solidFill>
                  <a:schemeClr val="accent2"/>
                </a:solidFill>
                <a:latin typeface="Sitka Heading"/>
              </a:rPr>
              <a:t>Features (X)</a:t>
            </a:r>
            <a:r>
              <a:rPr lang="en-US" sz="2000" dirty="0">
                <a:latin typeface="Sitka Heading"/>
              </a:rPr>
              <a:t> and </a:t>
            </a:r>
            <a:r>
              <a:rPr lang="en-US" sz="2000" b="1" dirty="0">
                <a:solidFill>
                  <a:schemeClr val="accent2"/>
                </a:solidFill>
                <a:latin typeface="Sitka Heading"/>
              </a:rPr>
              <a:t>labels (y)</a:t>
            </a:r>
            <a:r>
              <a:rPr lang="en-US" sz="2000" dirty="0">
                <a:latin typeface="Sitka Heading"/>
              </a:rPr>
              <a:t> were extracted from the file.</a:t>
            </a:r>
          </a:p>
          <a:p>
            <a:pPr marL="914400" lvl="3"/>
            <a:endParaRPr lang="en-US" sz="2000" dirty="0">
              <a:latin typeface="Sitka Heading"/>
            </a:endParaRPr>
          </a:p>
          <a:p>
            <a:r>
              <a:rPr lang="en-US" sz="2000" b="1" dirty="0">
                <a:latin typeface="Sitka Heading"/>
              </a:rPr>
              <a:t>3. Rescaling Features:</a:t>
            </a:r>
          </a:p>
          <a:p>
            <a:pPr marL="1143000" lvl="3" indent="-228600">
              <a:buFont typeface="Arial"/>
              <a:buChar char="•"/>
            </a:pPr>
            <a:r>
              <a:rPr lang="en-US" sz="2000" dirty="0">
                <a:latin typeface="Sitka Heading"/>
              </a:rPr>
              <a:t>The feature values were divided by</a:t>
            </a:r>
            <a:r>
              <a:rPr lang="en-US" sz="2000" b="1" dirty="0">
                <a:latin typeface="Sitka Heading"/>
              </a:rPr>
              <a:t> </a:t>
            </a:r>
            <a:r>
              <a:rPr lang="en-US" sz="2000" b="1" dirty="0">
                <a:solidFill>
                  <a:schemeClr val="accent2"/>
                </a:solidFill>
                <a:latin typeface="Sitka Heading"/>
              </a:rPr>
              <a:t>255</a:t>
            </a:r>
            <a:r>
              <a:rPr lang="en-US" sz="2000" dirty="0">
                <a:latin typeface="Sitka Heading"/>
              </a:rPr>
              <a:t> to scale them down.</a:t>
            </a:r>
          </a:p>
          <a:p>
            <a:pPr marL="1143000" lvl="3" indent="-228600">
              <a:buFont typeface="Arial"/>
              <a:buChar char="•"/>
            </a:pPr>
            <a:r>
              <a:rPr lang="en-US" sz="2000" dirty="0">
                <a:latin typeface="Sitka Heading"/>
              </a:rPr>
              <a:t>This rescaling ensures the feature values are between </a:t>
            </a:r>
            <a:r>
              <a:rPr lang="en-US" sz="2000" b="1" dirty="0">
                <a:solidFill>
                  <a:schemeClr val="accent2"/>
                </a:solidFill>
                <a:latin typeface="Sitka Heading"/>
              </a:rPr>
              <a:t>0 and 1</a:t>
            </a:r>
            <a:r>
              <a:rPr lang="en-US" sz="2000" dirty="0">
                <a:solidFill>
                  <a:schemeClr val="accent2"/>
                </a:solidFill>
                <a:latin typeface="Sitka Heading"/>
              </a:rPr>
              <a:t>,</a:t>
            </a:r>
            <a:r>
              <a:rPr lang="en-US" sz="2000" dirty="0">
                <a:latin typeface="Sitka Heading"/>
              </a:rPr>
              <a:t> preventing overflow.</a:t>
            </a:r>
          </a:p>
          <a:p>
            <a:pPr marL="914400" lvl="3"/>
            <a:endParaRPr lang="en-US" sz="2000" dirty="0">
              <a:latin typeface="Sitka Heading"/>
            </a:endParaRPr>
          </a:p>
          <a:p>
            <a:r>
              <a:rPr lang="en-US" sz="2000" b="1" dirty="0">
                <a:latin typeface="Sitka Heading"/>
              </a:rPr>
              <a:t>4. Data Splitting:</a:t>
            </a:r>
          </a:p>
          <a:p>
            <a:pPr marL="1143000" lvl="3" indent="-228600">
              <a:buFont typeface="Arial"/>
              <a:buChar char="•"/>
            </a:pPr>
            <a:r>
              <a:rPr lang="en-US" sz="2000" dirty="0">
                <a:latin typeface="Sitka Heading"/>
              </a:rPr>
              <a:t>The dataset was split into </a:t>
            </a:r>
            <a:r>
              <a:rPr lang="en-US" sz="2000" b="1" dirty="0">
                <a:solidFill>
                  <a:schemeClr val="accent2"/>
                </a:solidFill>
                <a:latin typeface="Sitka Heading"/>
              </a:rPr>
              <a:t>60,000</a:t>
            </a:r>
            <a:r>
              <a:rPr lang="en-US" sz="2000" b="1" dirty="0">
                <a:latin typeface="Sitka Heading"/>
              </a:rPr>
              <a:t> </a:t>
            </a:r>
            <a:r>
              <a:rPr lang="en-US" sz="2000" dirty="0">
                <a:latin typeface="Sitka Heading"/>
              </a:rPr>
              <a:t>training examples.</a:t>
            </a:r>
          </a:p>
          <a:p>
            <a:pPr marL="1143000" lvl="3" indent="-228600">
              <a:buFont typeface="Arial"/>
              <a:buChar char="•"/>
            </a:pPr>
            <a:r>
              <a:rPr lang="en-US" sz="2000" dirty="0">
                <a:latin typeface="Sitka Heading"/>
              </a:rPr>
              <a:t>An additional </a:t>
            </a:r>
            <a:r>
              <a:rPr lang="en-US" sz="2000" b="1" dirty="0">
                <a:solidFill>
                  <a:schemeClr val="accent2"/>
                </a:solidFill>
                <a:latin typeface="Sitka Heading"/>
              </a:rPr>
              <a:t>10,000</a:t>
            </a:r>
            <a:r>
              <a:rPr lang="en-US" sz="2000" b="1" dirty="0">
                <a:latin typeface="Sitka Heading"/>
              </a:rPr>
              <a:t> </a:t>
            </a:r>
            <a:r>
              <a:rPr lang="en-US" sz="2000" dirty="0">
                <a:latin typeface="Sitka Heading"/>
              </a:rPr>
              <a:t>examples were set aside for testing.</a:t>
            </a:r>
          </a:p>
        </p:txBody>
      </p:sp>
    </p:spTree>
    <p:extLst>
      <p:ext uri="{BB962C8B-B14F-4D97-AF65-F5344CB8AC3E}">
        <p14:creationId xmlns:p14="http://schemas.microsoft.com/office/powerpoint/2010/main" val="808474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535BDB-6FCE-E410-125B-5B9E84D2A183}"/>
              </a:ext>
            </a:extLst>
          </p:cNvPr>
          <p:cNvSpPr txBox="1"/>
          <p:nvPr/>
        </p:nvSpPr>
        <p:spPr>
          <a:xfrm>
            <a:off x="806824" y="403411"/>
            <a:ext cx="9771529" cy="59400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Sitka Heading"/>
              </a:rPr>
              <a:t>5. Feedforward:</a:t>
            </a:r>
            <a:endParaRPr lang="en-US" sz="2000" dirty="0">
              <a:latin typeface="Sitka Heading"/>
            </a:endParaRPr>
          </a:p>
          <a:p>
            <a:pPr marL="1143000" lvl="3" indent="-228600">
              <a:buFont typeface="Arial"/>
              <a:buChar char="•"/>
            </a:pPr>
            <a:r>
              <a:rPr lang="en-US" sz="2000" dirty="0">
                <a:latin typeface="Sitka Heading"/>
              </a:rPr>
              <a:t>Feedforward was done using the training set to calculate predictions (hypothesis).</a:t>
            </a:r>
          </a:p>
          <a:p>
            <a:pPr marL="1143000" lvl="3" indent="-228600">
              <a:buFont typeface="Arial"/>
              <a:buChar char="•"/>
            </a:pPr>
            <a:r>
              <a:rPr lang="en-US" sz="2000" dirty="0">
                <a:latin typeface="Sitka Heading"/>
              </a:rPr>
              <a:t>This process allowed the network to make predictions based on the input features.</a:t>
            </a:r>
          </a:p>
          <a:p>
            <a:pPr marL="914400" lvl="3"/>
            <a:endParaRPr lang="en-US" sz="2000" dirty="0">
              <a:latin typeface="Sitka Heading"/>
            </a:endParaRPr>
          </a:p>
          <a:p>
            <a:r>
              <a:rPr lang="en-US" sz="2000" b="1" dirty="0">
                <a:latin typeface="Sitka Heading"/>
              </a:rPr>
              <a:t>6. Backpropagation:</a:t>
            </a:r>
          </a:p>
          <a:p>
            <a:pPr marL="1143000" lvl="3" indent="-228600">
              <a:buFont typeface="Arial"/>
              <a:buChar char="•"/>
            </a:pPr>
            <a:r>
              <a:rPr lang="en-US" sz="2000" dirty="0">
                <a:latin typeface="Sitka Heading"/>
              </a:rPr>
              <a:t>Backpropagation was used to minimize the error between the predicted and actual values.</a:t>
            </a:r>
          </a:p>
          <a:p>
            <a:pPr marL="1143000" lvl="3" indent="-228600">
              <a:buFont typeface="Arial"/>
              <a:buChar char="•"/>
            </a:pPr>
            <a:r>
              <a:rPr lang="en-US" sz="2000" dirty="0">
                <a:latin typeface="Sitka Heading"/>
              </a:rPr>
              <a:t>The network’s weights were adjusted during this process to improve performance.</a:t>
            </a:r>
          </a:p>
          <a:p>
            <a:pPr marL="1143000" lvl="3" indent="-228600">
              <a:buFont typeface="Arial"/>
              <a:buChar char="•"/>
            </a:pPr>
            <a:endParaRPr lang="en-US" sz="2000" dirty="0">
              <a:latin typeface="Sitka Heading"/>
            </a:endParaRPr>
          </a:p>
          <a:p>
            <a:r>
              <a:rPr lang="en-US" sz="2000" b="1" dirty="0">
                <a:latin typeface="Sitka Heading"/>
              </a:rPr>
              <a:t>7. Regularization:</a:t>
            </a:r>
          </a:p>
          <a:p>
            <a:pPr marL="1143000" lvl="3" indent="-228600">
              <a:buFont typeface="Arial"/>
              <a:buChar char="•"/>
            </a:pPr>
            <a:r>
              <a:rPr lang="en-US" sz="2000" dirty="0">
                <a:latin typeface="Sitka Heading"/>
              </a:rPr>
              <a:t>A regularization parameter (lambda) of 0.1 was applied to reduce overfitting.</a:t>
            </a:r>
          </a:p>
          <a:p>
            <a:pPr marL="1143000" lvl="3" indent="-228600">
              <a:buFont typeface="Arial"/>
              <a:buChar char="•"/>
            </a:pPr>
            <a:r>
              <a:rPr lang="en-US" sz="2000" dirty="0">
                <a:latin typeface="Sitka Heading"/>
              </a:rPr>
              <a:t>This helps the model generalize better to unseen data.</a:t>
            </a:r>
          </a:p>
          <a:p>
            <a:pPr marL="914400" lvl="3"/>
            <a:endParaRPr lang="en-US" sz="2000" dirty="0">
              <a:latin typeface="Sitka Heading"/>
            </a:endParaRPr>
          </a:p>
          <a:p>
            <a:r>
              <a:rPr lang="en-US" sz="2000" b="1" dirty="0">
                <a:latin typeface="Sitka Heading"/>
              </a:rPr>
              <a:t>8. Optimizer:</a:t>
            </a:r>
          </a:p>
          <a:p>
            <a:pPr marL="1143000" lvl="3" indent="-228600">
              <a:buFont typeface="Arial"/>
              <a:buChar char="•"/>
            </a:pPr>
            <a:r>
              <a:rPr lang="en-US" sz="2000" dirty="0">
                <a:latin typeface="Sitka Heading"/>
              </a:rPr>
              <a:t>The optimizer was run for </a:t>
            </a:r>
            <a:r>
              <a:rPr lang="en-US" sz="2000" b="1" dirty="0">
                <a:solidFill>
                  <a:schemeClr val="accent2"/>
                </a:solidFill>
                <a:latin typeface="Sitka Heading"/>
              </a:rPr>
              <a:t>100 iterations</a:t>
            </a:r>
            <a:r>
              <a:rPr lang="en-US" sz="2000" dirty="0">
                <a:latin typeface="Sitka Heading"/>
              </a:rPr>
              <a:t> to improve the model’s accuracy.</a:t>
            </a:r>
          </a:p>
          <a:p>
            <a:pPr marL="1143000" lvl="3" indent="-228600">
              <a:buFont typeface="Arial"/>
              <a:buChar char="•"/>
            </a:pPr>
            <a:r>
              <a:rPr lang="en-US" sz="2000" dirty="0">
                <a:latin typeface="Sitka Heading"/>
              </a:rPr>
              <a:t>The goal was to find the </a:t>
            </a:r>
            <a:r>
              <a:rPr lang="en-US" sz="2000" b="1" dirty="0">
                <a:solidFill>
                  <a:schemeClr val="accent2"/>
                </a:solidFill>
                <a:latin typeface="Sitka Heading"/>
              </a:rPr>
              <a:t>best-fit model</a:t>
            </a:r>
            <a:r>
              <a:rPr lang="en-US" sz="2000" dirty="0">
                <a:latin typeface="Sitka Heading"/>
              </a:rPr>
              <a:t> with the least error.</a:t>
            </a:r>
          </a:p>
        </p:txBody>
      </p:sp>
    </p:spTree>
    <p:extLst>
      <p:ext uri="{BB962C8B-B14F-4D97-AF65-F5344CB8AC3E}">
        <p14:creationId xmlns:p14="http://schemas.microsoft.com/office/powerpoint/2010/main" val="1686408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E3DCC5-A91B-8A9B-2F6C-3FCB12FBBC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989" y="722096"/>
            <a:ext cx="9901777" cy="4854919"/>
          </a:xfrm>
          <a:prstGeom prst="rect">
            <a:avLst/>
          </a:prstGeom>
        </p:spPr>
      </p:pic>
    </p:spTree>
    <p:extLst>
      <p:ext uri="{BB962C8B-B14F-4D97-AF65-F5344CB8AC3E}">
        <p14:creationId xmlns:p14="http://schemas.microsoft.com/office/powerpoint/2010/main" val="4213359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DD4414-797A-9B0F-58F2-A6B9B1F5F147}"/>
              </a:ext>
            </a:extLst>
          </p:cNvPr>
          <p:cNvSpPr txBox="1"/>
          <p:nvPr/>
        </p:nvSpPr>
        <p:spPr>
          <a:xfrm>
            <a:off x="551935" y="502507"/>
            <a:ext cx="2677297" cy="461665"/>
          </a:xfrm>
          <a:prstGeom prst="rect">
            <a:avLst/>
          </a:prstGeom>
          <a:noFill/>
        </p:spPr>
        <p:txBody>
          <a:bodyPr wrap="square" rtlCol="0">
            <a:spAutoFit/>
          </a:bodyPr>
          <a:lstStyle/>
          <a:p>
            <a:r>
              <a:rPr lang="en-US" sz="2400" dirty="0"/>
              <a:t>Progress Update:</a:t>
            </a:r>
          </a:p>
        </p:txBody>
      </p:sp>
      <p:sp>
        <p:nvSpPr>
          <p:cNvPr id="5" name="TextBox 4">
            <a:extLst>
              <a:ext uri="{FF2B5EF4-FFF2-40B4-BE49-F238E27FC236}">
                <a16:creationId xmlns:a16="http://schemas.microsoft.com/office/drawing/2014/main" id="{156FA242-0FE5-4BAE-3D54-10A06DAD3AC7}"/>
              </a:ext>
            </a:extLst>
          </p:cNvPr>
          <p:cNvSpPr txBox="1"/>
          <p:nvPr/>
        </p:nvSpPr>
        <p:spPr>
          <a:xfrm>
            <a:off x="1276865" y="1351005"/>
            <a:ext cx="9358183" cy="1938992"/>
          </a:xfrm>
          <a:prstGeom prst="rect">
            <a:avLst/>
          </a:prstGeom>
          <a:noFill/>
        </p:spPr>
        <p:txBody>
          <a:bodyPr wrap="square" rtlCol="0">
            <a:spAutoFit/>
          </a:bodyPr>
          <a:lstStyle/>
          <a:p>
            <a:r>
              <a:rPr lang="en-US" sz="2400" b="1" dirty="0">
                <a:latin typeface="Sitka Banner" pitchFamily="2" charset="0"/>
              </a:rPr>
              <a:t>Library Installation:</a:t>
            </a:r>
            <a:r>
              <a:rPr lang="en-US" sz="2400" dirty="0">
                <a:latin typeface="Sitka Banner" pitchFamily="2" charset="0"/>
              </a:rPr>
              <a:t> We are in the process of installing and configuring the necessary libraries for running the neural network. This step is critical for ensuring smooth operation when training and testing the model. Setting up these libraries is an ongoing process as we fine-tune the environment to meet the project’s requirements.</a:t>
            </a:r>
            <a:endParaRPr lang="en-IN" sz="2400" dirty="0">
              <a:latin typeface="Sitka Banner" pitchFamily="2" charset="0"/>
            </a:endParaRPr>
          </a:p>
        </p:txBody>
      </p:sp>
      <p:sp>
        <p:nvSpPr>
          <p:cNvPr id="6" name="TextBox 5">
            <a:extLst>
              <a:ext uri="{FF2B5EF4-FFF2-40B4-BE49-F238E27FC236}">
                <a16:creationId xmlns:a16="http://schemas.microsoft.com/office/drawing/2014/main" id="{8CDED3D5-E94B-AA41-3112-3ABD9637F348}"/>
              </a:ext>
            </a:extLst>
          </p:cNvPr>
          <p:cNvSpPr txBox="1"/>
          <p:nvPr/>
        </p:nvSpPr>
        <p:spPr>
          <a:xfrm>
            <a:off x="1276865" y="3772930"/>
            <a:ext cx="9819503" cy="1938992"/>
          </a:xfrm>
          <a:prstGeom prst="rect">
            <a:avLst/>
          </a:prstGeom>
          <a:noFill/>
        </p:spPr>
        <p:txBody>
          <a:bodyPr wrap="square" rtlCol="0">
            <a:spAutoFit/>
          </a:bodyPr>
          <a:lstStyle/>
          <a:p>
            <a:r>
              <a:rPr lang="en-US" sz="2400" b="1" dirty="0">
                <a:latin typeface="Sitka Banner" pitchFamily="2" charset="0"/>
              </a:rPr>
              <a:t>Understanding Neural Networks:</a:t>
            </a:r>
            <a:r>
              <a:rPr lang="en-US" sz="2400" dirty="0">
                <a:latin typeface="Sitka Banner" pitchFamily="2" charset="0"/>
              </a:rPr>
              <a:t> We’ve made significant progress in learning how neural networks work, particularly in the context of digit recognition. This involves studying feedforward, backpropagation, and the overall structure of the network. Understanding these concepts is helping us approach the coding aspect more effectively.</a:t>
            </a:r>
            <a:endParaRPr lang="en-IN" sz="2400" dirty="0">
              <a:latin typeface="Sitka Banner" pitchFamily="2" charset="0"/>
            </a:endParaRPr>
          </a:p>
        </p:txBody>
      </p:sp>
    </p:spTree>
    <p:extLst>
      <p:ext uri="{BB962C8B-B14F-4D97-AF65-F5344CB8AC3E}">
        <p14:creationId xmlns:p14="http://schemas.microsoft.com/office/powerpoint/2010/main" val="3105066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52DCB5C-5146-78AD-69EC-765A6391BFE5}"/>
              </a:ext>
            </a:extLst>
          </p:cNvPr>
          <p:cNvSpPr>
            <a:spLocks noGrp="1"/>
          </p:cNvSpPr>
          <p:nvPr>
            <p:ph type="dt" sz="half" idx="10"/>
          </p:nvPr>
        </p:nvSpPr>
        <p:spPr/>
        <p:txBody>
          <a:bodyPr/>
          <a:lstStyle/>
          <a:p>
            <a:fld id="{FD21106A-6ECB-4F97-A836-FE538BB2EBB3}" type="datetime1">
              <a:rPr lang="en-US" smtClean="0"/>
              <a:t>06/19/26</a:t>
            </a:fld>
            <a:endParaRPr lang="en-US" dirty="0"/>
          </a:p>
        </p:txBody>
      </p:sp>
      <p:sp>
        <p:nvSpPr>
          <p:cNvPr id="5" name="Footer Placeholder 4">
            <a:extLst>
              <a:ext uri="{FF2B5EF4-FFF2-40B4-BE49-F238E27FC236}">
                <a16:creationId xmlns:a16="http://schemas.microsoft.com/office/drawing/2014/main" id="{2A04BF74-DE92-2F65-247D-001DC3C4AC4D}"/>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EFB753EB-BB6B-05AF-7758-50B567D80DE4}"/>
              </a:ext>
            </a:extLst>
          </p:cNvPr>
          <p:cNvSpPr>
            <a:spLocks noGrp="1"/>
          </p:cNvSpPr>
          <p:nvPr>
            <p:ph type="sldNum" sz="quarter" idx="12"/>
          </p:nvPr>
        </p:nvSpPr>
        <p:spPr/>
        <p:txBody>
          <a:bodyPr/>
          <a:lstStyle/>
          <a:p>
            <a:fld id="{CC057153-B650-4DEB-B370-79DDCFDCE934}" type="slidenum">
              <a:rPr lang="en-US" smtClean="0"/>
              <a:t>8</a:t>
            </a:fld>
            <a:endParaRPr lang="en-US" dirty="0"/>
          </a:p>
        </p:txBody>
      </p:sp>
      <p:sp>
        <p:nvSpPr>
          <p:cNvPr id="9" name="TextBox 8">
            <a:extLst>
              <a:ext uri="{FF2B5EF4-FFF2-40B4-BE49-F238E27FC236}">
                <a16:creationId xmlns:a16="http://schemas.microsoft.com/office/drawing/2014/main" id="{5C2F9C04-36B3-ED81-3C24-4342C0B9DE9A}"/>
              </a:ext>
            </a:extLst>
          </p:cNvPr>
          <p:cNvSpPr txBox="1"/>
          <p:nvPr/>
        </p:nvSpPr>
        <p:spPr>
          <a:xfrm>
            <a:off x="1037968" y="1293341"/>
            <a:ext cx="9885405" cy="4062651"/>
          </a:xfrm>
          <a:prstGeom prst="rect">
            <a:avLst/>
          </a:prstGeom>
          <a:noFill/>
        </p:spPr>
        <p:txBody>
          <a:bodyPr wrap="square" rtlCol="0">
            <a:spAutoFit/>
          </a:bodyPr>
          <a:lstStyle/>
          <a:p>
            <a:r>
              <a:rPr lang="en-US" sz="2400" b="1" dirty="0">
                <a:latin typeface="Sitka Banner" pitchFamily="2" charset="0"/>
              </a:rPr>
              <a:t>Coding Progress:</a:t>
            </a:r>
            <a:r>
              <a:rPr lang="en-US" sz="2400" dirty="0">
                <a:latin typeface="Sitka Banner" pitchFamily="2" charset="0"/>
              </a:rPr>
              <a:t> We’ve started writing the code for different parts of the project, including data processing, model training, and the GUI. While we are still in the early stages, our coding efforts are focused on ensuring that each component works well together. We’re applying what we’ve learned from theory into practice.</a:t>
            </a:r>
          </a:p>
          <a:p>
            <a:endParaRPr lang="en-US" sz="2400" dirty="0">
              <a:latin typeface="Sitka Banner" pitchFamily="2" charset="0"/>
            </a:endParaRPr>
          </a:p>
          <a:p>
            <a:endParaRPr lang="en-US" sz="2400" dirty="0">
              <a:latin typeface="Sitka Banner" pitchFamily="2" charset="0"/>
            </a:endParaRPr>
          </a:p>
          <a:p>
            <a:r>
              <a:rPr lang="en-US" sz="2400" b="1" dirty="0">
                <a:latin typeface="Sitka Banner" pitchFamily="2" charset="0"/>
              </a:rPr>
              <a:t>Dataset Exploration:</a:t>
            </a:r>
            <a:r>
              <a:rPr lang="en-US" sz="2400" dirty="0">
                <a:latin typeface="Sitka Banner" pitchFamily="2" charset="0"/>
              </a:rPr>
              <a:t> Although we are using the MNIST dataset, we are also exploring additional datasets to test the model under different conditions. We’ve referenced various Kaggle examples to gather useful insights and scenario-based examples that can improve the accuracy and robustness of our model.</a:t>
            </a:r>
          </a:p>
          <a:p>
            <a:endParaRPr lang="en-IN" dirty="0"/>
          </a:p>
        </p:txBody>
      </p:sp>
    </p:spTree>
    <p:extLst>
      <p:ext uri="{BB962C8B-B14F-4D97-AF65-F5344CB8AC3E}">
        <p14:creationId xmlns:p14="http://schemas.microsoft.com/office/powerpoint/2010/main" val="1793492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5">
            <a:extLst>
              <a:ext uri="{FF2B5EF4-FFF2-40B4-BE49-F238E27FC236}">
                <a16:creationId xmlns:a16="http://schemas.microsoft.com/office/drawing/2014/main" id="{6430A39F-9C8A-AAD5-56D9-F0B423989C49}"/>
              </a:ext>
            </a:extLst>
          </p:cNvPr>
          <p:cNvSpPr txBox="1"/>
          <p:nvPr/>
        </p:nvSpPr>
        <p:spPr>
          <a:xfrm>
            <a:off x="1305859" y="704227"/>
            <a:ext cx="4284133"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dirty="0">
                <a:latin typeface="Georgia Pro Black"/>
              </a:rPr>
              <a:t>Conclusion:</a:t>
            </a:r>
            <a:endParaRPr lang="en-IN" sz="3600" dirty="0">
              <a:latin typeface="Georgia Pro Black"/>
            </a:endParaRPr>
          </a:p>
        </p:txBody>
      </p:sp>
      <p:sp>
        <p:nvSpPr>
          <p:cNvPr id="5" name="TextBox 4">
            <a:extLst>
              <a:ext uri="{FF2B5EF4-FFF2-40B4-BE49-F238E27FC236}">
                <a16:creationId xmlns:a16="http://schemas.microsoft.com/office/drawing/2014/main" id="{FB8AD62A-7456-04E7-5722-35869B1ED749}"/>
              </a:ext>
            </a:extLst>
          </p:cNvPr>
          <p:cNvSpPr txBox="1"/>
          <p:nvPr/>
        </p:nvSpPr>
        <p:spPr>
          <a:xfrm>
            <a:off x="1308847" y="1819835"/>
            <a:ext cx="9108140"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dirty="0">
                <a:latin typeface="Sitka Heading"/>
                <a:cs typeface="Segoe UI"/>
              </a:rPr>
              <a:t>In conclusion, handwritten digit recognition using neural networks is a well-established problem with numerous practical applications. Leveraging CNNs enables high accuracy and robust performance. ​</a:t>
            </a:r>
            <a:endParaRPr lang="en-US"/>
          </a:p>
          <a:p>
            <a:endParaRPr lang="en-US" sz="2400" dirty="0">
              <a:latin typeface="Sitka Heading"/>
              <a:cs typeface="Segoe UI"/>
            </a:endParaRPr>
          </a:p>
          <a:p>
            <a:pPr marL="342900" indent="-342900">
              <a:buFont typeface="Arial" panose="020B0604020202020204" pitchFamily="34" charset="0"/>
              <a:buChar char="•"/>
            </a:pPr>
            <a:r>
              <a:rPr lang="en-US" sz="2400" dirty="0">
                <a:latin typeface="Sitka Heading"/>
                <a:cs typeface="Segoe UI"/>
              </a:rPr>
              <a:t>This project outlines the steps to design, train, and deploy a neural network model for handwritten digit recognition, emphasizing the importance of model evaluation and improvement to ensure real-world applicability.</a:t>
            </a:r>
            <a:r>
              <a:rPr lang="en-IN" sz="2400" dirty="0">
                <a:latin typeface="Sitka Heading"/>
                <a:cs typeface="Segoe UI"/>
              </a:rPr>
              <a:t>​</a:t>
            </a:r>
          </a:p>
        </p:txBody>
      </p:sp>
    </p:spTree>
    <p:extLst>
      <p:ext uri="{BB962C8B-B14F-4D97-AF65-F5344CB8AC3E}">
        <p14:creationId xmlns:p14="http://schemas.microsoft.com/office/powerpoint/2010/main" val="4105472425"/>
      </p:ext>
    </p:extLst>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docProps/app.xml><?xml version="1.0" encoding="utf-8"?>
<Properties xmlns="http://schemas.openxmlformats.org/officeDocument/2006/extended-properties" xmlns:vt="http://schemas.openxmlformats.org/officeDocument/2006/docPropsVTypes">
  <Template>office theme</Template>
  <TotalTime>170</TotalTime>
  <Words>755</Words>
  <Application>Microsoft Office PowerPoint</Application>
  <PresentationFormat>Widescreen</PresentationFormat>
  <Paragraphs>63</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Arial Rounded MT Bold</vt:lpstr>
      <vt:lpstr>Georgia Pro Black</vt:lpstr>
      <vt:lpstr>Neue Haas Grotesk Text Pro</vt:lpstr>
      <vt:lpstr>Sitka Banner</vt:lpstr>
      <vt:lpstr>Sitka Heading</vt:lpstr>
      <vt:lpstr>Wingdings</vt:lpstr>
      <vt:lpstr>VanillaVTI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DERANGULA VENKATA KIRAN KUMAR-[CB.SC.U4AIE23122]</cp:lastModifiedBy>
  <cp:revision>180</cp:revision>
  <dcterms:created xsi:type="dcterms:W3CDTF">2024-09-18T14:54:33Z</dcterms:created>
  <dcterms:modified xsi:type="dcterms:W3CDTF">2026-06-19T17:48:13Z</dcterms:modified>
</cp:coreProperties>
</file>